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5" r:id="rId1"/>
  </p:sldMasterIdLst>
  <p:sldIdLst>
    <p:sldId id="257" r:id="rId2"/>
    <p:sldId id="258" r:id="rId3"/>
    <p:sldId id="259" r:id="rId4"/>
    <p:sldId id="267" r:id="rId5"/>
    <p:sldId id="262" r:id="rId6"/>
    <p:sldId id="261" r:id="rId7"/>
    <p:sldId id="263" r:id="rId8"/>
    <p:sldId id="264" r:id="rId9"/>
    <p:sldId id="265" r:id="rId10"/>
    <p:sldId id="266" r:id="rId11"/>
    <p:sldId id="268" r:id="rId12"/>
    <p:sldId id="269" r:id="rId13"/>
    <p:sldId id="270" r:id="rId14"/>
    <p:sldId id="271" r:id="rId15"/>
    <p:sldId id="272" r:id="rId16"/>
    <p:sldId id="273" r:id="rId17"/>
    <p:sldId id="274" r:id="rId18"/>
    <p:sldId id="275" r:id="rId19"/>
    <p:sldId id="276" r:id="rId20"/>
    <p:sldId id="278" r:id="rId21"/>
    <p:sldId id="277" r:id="rId22"/>
    <p:sldId id="279" r:id="rId23"/>
    <p:sldId id="280" r:id="rId24"/>
    <p:sldId id="281" r:id="rId25"/>
    <p:sldId id="282" r:id="rId26"/>
    <p:sldId id="283" r:id="rId27"/>
    <p:sldId id="260" r:id="rId28"/>
    <p:sldId id="284"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313" autoAdjust="0"/>
    <p:restoredTop sz="94660"/>
  </p:normalViewPr>
  <p:slideViewPr>
    <p:cSldViewPr snapToGrid="0">
      <p:cViewPr>
        <p:scale>
          <a:sx n="77" d="100"/>
          <a:sy n="77" d="100"/>
        </p:scale>
        <p:origin x="941"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478BD-0E81-F67F-3360-45592432120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28E3986-D478-196A-2A0B-FEB2F09959B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380B328-E875-4D97-CB2E-36883C0A4FDE}"/>
              </a:ext>
            </a:extLst>
          </p:cNvPr>
          <p:cNvSpPr>
            <a:spLocks noGrp="1"/>
          </p:cNvSpPr>
          <p:nvPr>
            <p:ph type="dt" sz="half" idx="10"/>
          </p:nvPr>
        </p:nvSpPr>
        <p:spPr/>
        <p:txBody>
          <a:bodyPr/>
          <a:lstStyle/>
          <a:p>
            <a:fld id="{6F2B26AF-3AB0-46C0-A467-41541D1DC7ED}" type="datetimeFigureOut">
              <a:rPr lang="en-IN" smtClean="0"/>
              <a:t>21-10-2026</a:t>
            </a:fld>
            <a:endParaRPr lang="en-IN"/>
          </a:p>
        </p:txBody>
      </p:sp>
      <p:sp>
        <p:nvSpPr>
          <p:cNvPr id="5" name="Footer Placeholder 4">
            <a:extLst>
              <a:ext uri="{FF2B5EF4-FFF2-40B4-BE49-F238E27FC236}">
                <a16:creationId xmlns:a16="http://schemas.microsoft.com/office/drawing/2014/main" id="{261109DD-EF9A-4D94-B700-0FB51CF25B7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9CE25ED-6968-C16E-B826-353F210C2946}"/>
              </a:ext>
            </a:extLst>
          </p:cNvPr>
          <p:cNvSpPr>
            <a:spLocks noGrp="1"/>
          </p:cNvSpPr>
          <p:nvPr>
            <p:ph type="sldNum" sz="quarter" idx="12"/>
          </p:nvPr>
        </p:nvSpPr>
        <p:spPr/>
        <p:txBody>
          <a:bodyPr/>
          <a:lstStyle/>
          <a:p>
            <a:fld id="{1A45EBAD-B5FC-404B-9E32-0D87212534D7}" type="slidenum">
              <a:rPr lang="en-IN" smtClean="0"/>
              <a:t>‹#›</a:t>
            </a:fld>
            <a:endParaRPr lang="en-IN"/>
          </a:p>
        </p:txBody>
      </p:sp>
    </p:spTree>
    <p:extLst>
      <p:ext uri="{BB962C8B-B14F-4D97-AF65-F5344CB8AC3E}">
        <p14:creationId xmlns:p14="http://schemas.microsoft.com/office/powerpoint/2010/main" val="28104764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4641C-8193-2322-F2F2-211B057E8F4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41A3874-4D27-9DAE-68DE-1573483A94F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BAC1407-865C-ACB2-8105-FEB3FAFBD5B3}"/>
              </a:ext>
            </a:extLst>
          </p:cNvPr>
          <p:cNvSpPr>
            <a:spLocks noGrp="1"/>
          </p:cNvSpPr>
          <p:nvPr>
            <p:ph type="dt" sz="half" idx="10"/>
          </p:nvPr>
        </p:nvSpPr>
        <p:spPr/>
        <p:txBody>
          <a:bodyPr/>
          <a:lstStyle/>
          <a:p>
            <a:fld id="{6F2B26AF-3AB0-46C0-A467-41541D1DC7ED}" type="datetimeFigureOut">
              <a:rPr lang="en-IN" smtClean="0"/>
              <a:t>21-10-2026</a:t>
            </a:fld>
            <a:endParaRPr lang="en-IN"/>
          </a:p>
        </p:txBody>
      </p:sp>
      <p:sp>
        <p:nvSpPr>
          <p:cNvPr id="5" name="Footer Placeholder 4">
            <a:extLst>
              <a:ext uri="{FF2B5EF4-FFF2-40B4-BE49-F238E27FC236}">
                <a16:creationId xmlns:a16="http://schemas.microsoft.com/office/drawing/2014/main" id="{590561E4-E382-2159-59F7-1B6CFE907D9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7828CD2-D003-13C2-1306-C31F61F0FDCA}"/>
              </a:ext>
            </a:extLst>
          </p:cNvPr>
          <p:cNvSpPr>
            <a:spLocks noGrp="1"/>
          </p:cNvSpPr>
          <p:nvPr>
            <p:ph type="sldNum" sz="quarter" idx="12"/>
          </p:nvPr>
        </p:nvSpPr>
        <p:spPr/>
        <p:txBody>
          <a:bodyPr/>
          <a:lstStyle/>
          <a:p>
            <a:fld id="{1A45EBAD-B5FC-404B-9E32-0D87212534D7}" type="slidenum">
              <a:rPr lang="en-IN" smtClean="0"/>
              <a:t>‹#›</a:t>
            </a:fld>
            <a:endParaRPr lang="en-IN"/>
          </a:p>
        </p:txBody>
      </p:sp>
    </p:spTree>
    <p:extLst>
      <p:ext uri="{BB962C8B-B14F-4D97-AF65-F5344CB8AC3E}">
        <p14:creationId xmlns:p14="http://schemas.microsoft.com/office/powerpoint/2010/main" val="37119762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F39258-D0EB-1622-3B6B-C5EB69AD328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C8FD842-6E0D-BFF5-26D6-1E9A7D2F256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42E0C59-3435-1BF2-6E00-5719962236FE}"/>
              </a:ext>
            </a:extLst>
          </p:cNvPr>
          <p:cNvSpPr>
            <a:spLocks noGrp="1"/>
          </p:cNvSpPr>
          <p:nvPr>
            <p:ph type="dt" sz="half" idx="10"/>
          </p:nvPr>
        </p:nvSpPr>
        <p:spPr/>
        <p:txBody>
          <a:bodyPr/>
          <a:lstStyle/>
          <a:p>
            <a:fld id="{6F2B26AF-3AB0-46C0-A467-41541D1DC7ED}" type="datetimeFigureOut">
              <a:rPr lang="en-IN" smtClean="0"/>
              <a:t>21-10-2026</a:t>
            </a:fld>
            <a:endParaRPr lang="en-IN"/>
          </a:p>
        </p:txBody>
      </p:sp>
      <p:sp>
        <p:nvSpPr>
          <p:cNvPr id="5" name="Footer Placeholder 4">
            <a:extLst>
              <a:ext uri="{FF2B5EF4-FFF2-40B4-BE49-F238E27FC236}">
                <a16:creationId xmlns:a16="http://schemas.microsoft.com/office/drawing/2014/main" id="{32829873-0A08-C7EF-FA29-35FCCB02955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40DAFFB-80EF-EDCA-2C18-AA5BDE2FE9D8}"/>
              </a:ext>
            </a:extLst>
          </p:cNvPr>
          <p:cNvSpPr>
            <a:spLocks noGrp="1"/>
          </p:cNvSpPr>
          <p:nvPr>
            <p:ph type="sldNum" sz="quarter" idx="12"/>
          </p:nvPr>
        </p:nvSpPr>
        <p:spPr/>
        <p:txBody>
          <a:bodyPr/>
          <a:lstStyle/>
          <a:p>
            <a:fld id="{1A45EBAD-B5FC-404B-9E32-0D87212534D7}" type="slidenum">
              <a:rPr lang="en-IN" smtClean="0"/>
              <a:t>‹#›</a:t>
            </a:fld>
            <a:endParaRPr lang="en-IN"/>
          </a:p>
        </p:txBody>
      </p:sp>
    </p:spTree>
    <p:extLst>
      <p:ext uri="{BB962C8B-B14F-4D97-AF65-F5344CB8AC3E}">
        <p14:creationId xmlns:p14="http://schemas.microsoft.com/office/powerpoint/2010/main" val="2861927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1A68DD-EE69-D3F4-4171-6D43FAB40F3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F07967C-C9DB-183E-2FB0-476D103211B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3AC431C-04C5-BC2C-3BCE-1C49D9E97AA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09BF4D8-7573-B046-E60E-1D6D87E5D64D}"/>
              </a:ext>
            </a:extLst>
          </p:cNvPr>
          <p:cNvSpPr>
            <a:spLocks noGrp="1"/>
          </p:cNvSpPr>
          <p:nvPr>
            <p:ph type="dt" sz="half" idx="10"/>
          </p:nvPr>
        </p:nvSpPr>
        <p:spPr/>
        <p:txBody>
          <a:bodyPr/>
          <a:lstStyle/>
          <a:p>
            <a:fld id="{6F2B26AF-3AB0-46C0-A467-41541D1DC7ED}" type="datetimeFigureOut">
              <a:rPr lang="en-IN" smtClean="0"/>
              <a:t>21-10-2026</a:t>
            </a:fld>
            <a:endParaRPr lang="en-IN"/>
          </a:p>
        </p:txBody>
      </p:sp>
      <p:sp>
        <p:nvSpPr>
          <p:cNvPr id="6" name="Footer Placeholder 5">
            <a:extLst>
              <a:ext uri="{FF2B5EF4-FFF2-40B4-BE49-F238E27FC236}">
                <a16:creationId xmlns:a16="http://schemas.microsoft.com/office/drawing/2014/main" id="{433B4F37-7BB1-7749-A699-FE389F186D4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83C4685-10EE-33E9-E152-5177A460DFB5}"/>
              </a:ext>
            </a:extLst>
          </p:cNvPr>
          <p:cNvSpPr>
            <a:spLocks noGrp="1"/>
          </p:cNvSpPr>
          <p:nvPr>
            <p:ph type="sldNum" sz="quarter" idx="12"/>
          </p:nvPr>
        </p:nvSpPr>
        <p:spPr/>
        <p:txBody>
          <a:bodyPr/>
          <a:lstStyle/>
          <a:p>
            <a:fld id="{1A45EBAD-B5FC-404B-9E32-0D87212534D7}" type="slidenum">
              <a:rPr lang="en-IN" smtClean="0"/>
              <a:t>‹#›</a:t>
            </a:fld>
            <a:endParaRPr lang="en-IN"/>
          </a:p>
        </p:txBody>
      </p:sp>
    </p:spTree>
    <p:extLst>
      <p:ext uri="{BB962C8B-B14F-4D97-AF65-F5344CB8AC3E}">
        <p14:creationId xmlns:p14="http://schemas.microsoft.com/office/powerpoint/2010/main" val="37315144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8C770-2908-0DBE-53C0-BB78760D02F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4B18E1C-47A9-C925-338E-2B91B66D377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5150B06-0DD4-EFA5-7004-537CCD2B582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0F130A2-96F7-D341-67A0-5966B47B7E8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6A44AEF-CADC-9FB2-8CD9-679FE71D712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996C179-D08E-3649-4E27-799F8BE4814E}"/>
              </a:ext>
            </a:extLst>
          </p:cNvPr>
          <p:cNvSpPr>
            <a:spLocks noGrp="1"/>
          </p:cNvSpPr>
          <p:nvPr>
            <p:ph type="dt" sz="half" idx="10"/>
          </p:nvPr>
        </p:nvSpPr>
        <p:spPr/>
        <p:txBody>
          <a:bodyPr/>
          <a:lstStyle/>
          <a:p>
            <a:fld id="{6F2B26AF-3AB0-46C0-A467-41541D1DC7ED}" type="datetimeFigureOut">
              <a:rPr lang="en-IN" smtClean="0"/>
              <a:t>21-10-2026</a:t>
            </a:fld>
            <a:endParaRPr lang="en-IN"/>
          </a:p>
        </p:txBody>
      </p:sp>
      <p:sp>
        <p:nvSpPr>
          <p:cNvPr id="8" name="Footer Placeholder 7">
            <a:extLst>
              <a:ext uri="{FF2B5EF4-FFF2-40B4-BE49-F238E27FC236}">
                <a16:creationId xmlns:a16="http://schemas.microsoft.com/office/drawing/2014/main" id="{1B4554BB-FFA6-6823-A92D-5D80C2BEC18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D6FE05F-5FC4-2C78-F542-C0EDE3307DB5}"/>
              </a:ext>
            </a:extLst>
          </p:cNvPr>
          <p:cNvSpPr>
            <a:spLocks noGrp="1"/>
          </p:cNvSpPr>
          <p:nvPr>
            <p:ph type="sldNum" sz="quarter" idx="12"/>
          </p:nvPr>
        </p:nvSpPr>
        <p:spPr/>
        <p:txBody>
          <a:bodyPr/>
          <a:lstStyle/>
          <a:p>
            <a:fld id="{1A45EBAD-B5FC-404B-9E32-0D87212534D7}" type="slidenum">
              <a:rPr lang="en-IN" smtClean="0"/>
              <a:t>‹#›</a:t>
            </a:fld>
            <a:endParaRPr lang="en-IN"/>
          </a:p>
        </p:txBody>
      </p:sp>
    </p:spTree>
    <p:extLst>
      <p:ext uri="{BB962C8B-B14F-4D97-AF65-F5344CB8AC3E}">
        <p14:creationId xmlns:p14="http://schemas.microsoft.com/office/powerpoint/2010/main" val="19717109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8AFDF7-7563-5AA6-43C4-4C3285A0559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B4432CA-DFC7-E394-BD31-605C72E0C333}"/>
              </a:ext>
            </a:extLst>
          </p:cNvPr>
          <p:cNvSpPr>
            <a:spLocks noGrp="1"/>
          </p:cNvSpPr>
          <p:nvPr>
            <p:ph type="dt" sz="half" idx="10"/>
          </p:nvPr>
        </p:nvSpPr>
        <p:spPr/>
        <p:txBody>
          <a:bodyPr/>
          <a:lstStyle/>
          <a:p>
            <a:fld id="{6F2B26AF-3AB0-46C0-A467-41541D1DC7ED}" type="datetimeFigureOut">
              <a:rPr lang="en-IN" smtClean="0"/>
              <a:t>21-10-2026</a:t>
            </a:fld>
            <a:endParaRPr lang="en-IN"/>
          </a:p>
        </p:txBody>
      </p:sp>
      <p:sp>
        <p:nvSpPr>
          <p:cNvPr id="4" name="Footer Placeholder 3">
            <a:extLst>
              <a:ext uri="{FF2B5EF4-FFF2-40B4-BE49-F238E27FC236}">
                <a16:creationId xmlns:a16="http://schemas.microsoft.com/office/drawing/2014/main" id="{E5D9BDF6-7668-6F4A-9C12-4FF85DAE37E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F16CD07-F44D-F2AB-E38A-D78583FB85C4}"/>
              </a:ext>
            </a:extLst>
          </p:cNvPr>
          <p:cNvSpPr>
            <a:spLocks noGrp="1"/>
          </p:cNvSpPr>
          <p:nvPr>
            <p:ph type="sldNum" sz="quarter" idx="12"/>
          </p:nvPr>
        </p:nvSpPr>
        <p:spPr/>
        <p:txBody>
          <a:bodyPr/>
          <a:lstStyle/>
          <a:p>
            <a:fld id="{1A45EBAD-B5FC-404B-9E32-0D87212534D7}" type="slidenum">
              <a:rPr lang="en-IN" smtClean="0"/>
              <a:t>‹#›</a:t>
            </a:fld>
            <a:endParaRPr lang="en-IN"/>
          </a:p>
        </p:txBody>
      </p:sp>
    </p:spTree>
    <p:extLst>
      <p:ext uri="{BB962C8B-B14F-4D97-AF65-F5344CB8AC3E}">
        <p14:creationId xmlns:p14="http://schemas.microsoft.com/office/powerpoint/2010/main" val="13364929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756F389-2053-CF7D-2E03-13C233D27AE9}"/>
              </a:ext>
            </a:extLst>
          </p:cNvPr>
          <p:cNvSpPr>
            <a:spLocks noGrp="1"/>
          </p:cNvSpPr>
          <p:nvPr>
            <p:ph type="dt" sz="half" idx="10"/>
          </p:nvPr>
        </p:nvSpPr>
        <p:spPr/>
        <p:txBody>
          <a:bodyPr/>
          <a:lstStyle/>
          <a:p>
            <a:fld id="{6F2B26AF-3AB0-46C0-A467-41541D1DC7ED}" type="datetimeFigureOut">
              <a:rPr lang="en-IN" smtClean="0"/>
              <a:t>21-10-2026</a:t>
            </a:fld>
            <a:endParaRPr lang="en-IN"/>
          </a:p>
        </p:txBody>
      </p:sp>
      <p:sp>
        <p:nvSpPr>
          <p:cNvPr id="3" name="Footer Placeholder 2">
            <a:extLst>
              <a:ext uri="{FF2B5EF4-FFF2-40B4-BE49-F238E27FC236}">
                <a16:creationId xmlns:a16="http://schemas.microsoft.com/office/drawing/2014/main" id="{B3A5AB78-01DB-EE82-E62E-72352101C44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D282DF8-137E-EC3D-D247-63B7871C5937}"/>
              </a:ext>
            </a:extLst>
          </p:cNvPr>
          <p:cNvSpPr>
            <a:spLocks noGrp="1"/>
          </p:cNvSpPr>
          <p:nvPr>
            <p:ph type="sldNum" sz="quarter" idx="12"/>
          </p:nvPr>
        </p:nvSpPr>
        <p:spPr/>
        <p:txBody>
          <a:bodyPr/>
          <a:lstStyle/>
          <a:p>
            <a:fld id="{1A45EBAD-B5FC-404B-9E32-0D87212534D7}" type="slidenum">
              <a:rPr lang="en-IN" smtClean="0"/>
              <a:t>‹#›</a:t>
            </a:fld>
            <a:endParaRPr lang="en-IN"/>
          </a:p>
        </p:txBody>
      </p:sp>
    </p:spTree>
    <p:extLst>
      <p:ext uri="{BB962C8B-B14F-4D97-AF65-F5344CB8AC3E}">
        <p14:creationId xmlns:p14="http://schemas.microsoft.com/office/powerpoint/2010/main" val="22189589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F1BD2-225F-7223-3FC7-D6DE38D2F3A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1F0D73C-D6F7-1EF0-951A-F09E4FA9457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69515A8-4DF1-AC1B-93BB-B6580A6B9E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5E9563B-D488-F975-9ECF-4ACBF6A6CC2C}"/>
              </a:ext>
            </a:extLst>
          </p:cNvPr>
          <p:cNvSpPr>
            <a:spLocks noGrp="1"/>
          </p:cNvSpPr>
          <p:nvPr>
            <p:ph type="dt" sz="half" idx="10"/>
          </p:nvPr>
        </p:nvSpPr>
        <p:spPr/>
        <p:txBody>
          <a:bodyPr/>
          <a:lstStyle/>
          <a:p>
            <a:fld id="{6F2B26AF-3AB0-46C0-A467-41541D1DC7ED}" type="datetimeFigureOut">
              <a:rPr lang="en-IN" smtClean="0"/>
              <a:t>21-10-2026</a:t>
            </a:fld>
            <a:endParaRPr lang="en-IN"/>
          </a:p>
        </p:txBody>
      </p:sp>
      <p:sp>
        <p:nvSpPr>
          <p:cNvPr id="6" name="Footer Placeholder 5">
            <a:extLst>
              <a:ext uri="{FF2B5EF4-FFF2-40B4-BE49-F238E27FC236}">
                <a16:creationId xmlns:a16="http://schemas.microsoft.com/office/drawing/2014/main" id="{593E9012-7C95-55DD-5EE3-8E5DD7241F1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8F277CD-B16B-812F-113C-BB9187EF809B}"/>
              </a:ext>
            </a:extLst>
          </p:cNvPr>
          <p:cNvSpPr>
            <a:spLocks noGrp="1"/>
          </p:cNvSpPr>
          <p:nvPr>
            <p:ph type="sldNum" sz="quarter" idx="12"/>
          </p:nvPr>
        </p:nvSpPr>
        <p:spPr/>
        <p:txBody>
          <a:bodyPr/>
          <a:lstStyle/>
          <a:p>
            <a:fld id="{1A45EBAD-B5FC-404B-9E32-0D87212534D7}" type="slidenum">
              <a:rPr lang="en-IN" smtClean="0"/>
              <a:t>‹#›</a:t>
            </a:fld>
            <a:endParaRPr lang="en-IN"/>
          </a:p>
        </p:txBody>
      </p:sp>
    </p:spTree>
    <p:extLst>
      <p:ext uri="{BB962C8B-B14F-4D97-AF65-F5344CB8AC3E}">
        <p14:creationId xmlns:p14="http://schemas.microsoft.com/office/powerpoint/2010/main" val="9157307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F6323-B452-EF8F-10C6-2F83405C6D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C015F3B-648F-ED39-B393-D0486E9AB064}"/>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7CEB5D9-02AD-48F8-0CCD-90FB90A597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2762AB8-2559-2846-F40E-BD2A3B3549E7}"/>
              </a:ext>
            </a:extLst>
          </p:cNvPr>
          <p:cNvSpPr>
            <a:spLocks noGrp="1"/>
          </p:cNvSpPr>
          <p:nvPr>
            <p:ph type="dt" sz="half" idx="10"/>
          </p:nvPr>
        </p:nvSpPr>
        <p:spPr/>
        <p:txBody>
          <a:bodyPr/>
          <a:lstStyle/>
          <a:p>
            <a:fld id="{6F2B26AF-3AB0-46C0-A467-41541D1DC7ED}" type="datetimeFigureOut">
              <a:rPr lang="en-IN" smtClean="0"/>
              <a:t>21-10-2026</a:t>
            </a:fld>
            <a:endParaRPr lang="en-IN"/>
          </a:p>
        </p:txBody>
      </p:sp>
      <p:sp>
        <p:nvSpPr>
          <p:cNvPr id="6" name="Footer Placeholder 5">
            <a:extLst>
              <a:ext uri="{FF2B5EF4-FFF2-40B4-BE49-F238E27FC236}">
                <a16:creationId xmlns:a16="http://schemas.microsoft.com/office/drawing/2014/main" id="{1249457C-DE5F-9840-0951-7B602F1EF00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C318CF2-4C18-A248-8AAB-FD6D35D80ECE}"/>
              </a:ext>
            </a:extLst>
          </p:cNvPr>
          <p:cNvSpPr>
            <a:spLocks noGrp="1"/>
          </p:cNvSpPr>
          <p:nvPr>
            <p:ph type="sldNum" sz="quarter" idx="12"/>
          </p:nvPr>
        </p:nvSpPr>
        <p:spPr/>
        <p:txBody>
          <a:bodyPr/>
          <a:lstStyle/>
          <a:p>
            <a:fld id="{1A45EBAD-B5FC-404B-9E32-0D87212534D7}" type="slidenum">
              <a:rPr lang="en-IN" smtClean="0"/>
              <a:t>‹#›</a:t>
            </a:fld>
            <a:endParaRPr lang="en-IN"/>
          </a:p>
        </p:txBody>
      </p:sp>
    </p:spTree>
    <p:extLst>
      <p:ext uri="{BB962C8B-B14F-4D97-AF65-F5344CB8AC3E}">
        <p14:creationId xmlns:p14="http://schemas.microsoft.com/office/powerpoint/2010/main" val="34891571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FFF70-519F-9E2C-022E-26F9399396A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1AFD587-99C0-D577-0A4F-05D21FC3223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438F853-DB96-965C-8DD6-705E9F181FE8}"/>
              </a:ext>
            </a:extLst>
          </p:cNvPr>
          <p:cNvSpPr>
            <a:spLocks noGrp="1"/>
          </p:cNvSpPr>
          <p:nvPr>
            <p:ph type="dt" sz="half" idx="10"/>
          </p:nvPr>
        </p:nvSpPr>
        <p:spPr/>
        <p:txBody>
          <a:bodyPr/>
          <a:lstStyle/>
          <a:p>
            <a:fld id="{6F2B26AF-3AB0-46C0-A467-41541D1DC7ED}" type="datetimeFigureOut">
              <a:rPr lang="en-IN" smtClean="0"/>
              <a:t>21-10-2026</a:t>
            </a:fld>
            <a:endParaRPr lang="en-IN"/>
          </a:p>
        </p:txBody>
      </p:sp>
      <p:sp>
        <p:nvSpPr>
          <p:cNvPr id="5" name="Footer Placeholder 4">
            <a:extLst>
              <a:ext uri="{FF2B5EF4-FFF2-40B4-BE49-F238E27FC236}">
                <a16:creationId xmlns:a16="http://schemas.microsoft.com/office/drawing/2014/main" id="{71684366-3C37-F504-6F5F-C808663480B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75963DF-3D33-27CE-D4D5-C76CC1B7E0B1}"/>
              </a:ext>
            </a:extLst>
          </p:cNvPr>
          <p:cNvSpPr>
            <a:spLocks noGrp="1"/>
          </p:cNvSpPr>
          <p:nvPr>
            <p:ph type="sldNum" sz="quarter" idx="12"/>
          </p:nvPr>
        </p:nvSpPr>
        <p:spPr/>
        <p:txBody>
          <a:bodyPr/>
          <a:lstStyle/>
          <a:p>
            <a:fld id="{1A45EBAD-B5FC-404B-9E32-0D87212534D7}" type="slidenum">
              <a:rPr lang="en-IN" smtClean="0"/>
              <a:t>‹#›</a:t>
            </a:fld>
            <a:endParaRPr lang="en-IN"/>
          </a:p>
        </p:txBody>
      </p:sp>
    </p:spTree>
    <p:extLst>
      <p:ext uri="{BB962C8B-B14F-4D97-AF65-F5344CB8AC3E}">
        <p14:creationId xmlns:p14="http://schemas.microsoft.com/office/powerpoint/2010/main" val="5066069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3372952-54EA-3ACE-CF15-5334D6A26E6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C631C67-3994-3365-4684-F795DD7814E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54C2C62-E654-8D07-965D-85A22B5E196D}"/>
              </a:ext>
            </a:extLst>
          </p:cNvPr>
          <p:cNvSpPr>
            <a:spLocks noGrp="1"/>
          </p:cNvSpPr>
          <p:nvPr>
            <p:ph type="dt" sz="half" idx="10"/>
          </p:nvPr>
        </p:nvSpPr>
        <p:spPr/>
        <p:txBody>
          <a:bodyPr/>
          <a:lstStyle/>
          <a:p>
            <a:fld id="{6F2B26AF-3AB0-46C0-A467-41541D1DC7ED}" type="datetimeFigureOut">
              <a:rPr lang="en-IN" smtClean="0"/>
              <a:t>21-10-2026</a:t>
            </a:fld>
            <a:endParaRPr lang="en-IN"/>
          </a:p>
        </p:txBody>
      </p:sp>
      <p:sp>
        <p:nvSpPr>
          <p:cNvPr id="5" name="Footer Placeholder 4">
            <a:extLst>
              <a:ext uri="{FF2B5EF4-FFF2-40B4-BE49-F238E27FC236}">
                <a16:creationId xmlns:a16="http://schemas.microsoft.com/office/drawing/2014/main" id="{09FD494F-D1EF-FD68-EF32-8AA3FBE2DEE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42C75D5-87DD-4DA8-30B9-BBABE9016FCD}"/>
              </a:ext>
            </a:extLst>
          </p:cNvPr>
          <p:cNvSpPr>
            <a:spLocks noGrp="1"/>
          </p:cNvSpPr>
          <p:nvPr>
            <p:ph type="sldNum" sz="quarter" idx="12"/>
          </p:nvPr>
        </p:nvSpPr>
        <p:spPr/>
        <p:txBody>
          <a:bodyPr/>
          <a:lstStyle/>
          <a:p>
            <a:fld id="{1A45EBAD-B5FC-404B-9E32-0D87212534D7}" type="slidenum">
              <a:rPr lang="en-IN" smtClean="0"/>
              <a:t>‹#›</a:t>
            </a:fld>
            <a:endParaRPr lang="en-IN"/>
          </a:p>
        </p:txBody>
      </p:sp>
    </p:spTree>
    <p:extLst>
      <p:ext uri="{BB962C8B-B14F-4D97-AF65-F5344CB8AC3E}">
        <p14:creationId xmlns:p14="http://schemas.microsoft.com/office/powerpoint/2010/main" val="587235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FB3172A-9B9E-22D5-A1DC-B8C11D61A50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3ECCC0E-79B9-8925-AEDC-7E6D9F47F2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D3FA51B-5A06-1724-A970-C26B6541720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F2B26AF-3AB0-46C0-A467-41541D1DC7ED}" type="datetimeFigureOut">
              <a:rPr lang="en-IN" smtClean="0"/>
              <a:t>21-10-2026</a:t>
            </a:fld>
            <a:endParaRPr lang="en-IN"/>
          </a:p>
        </p:txBody>
      </p:sp>
      <p:sp>
        <p:nvSpPr>
          <p:cNvPr id="5" name="Footer Placeholder 4">
            <a:extLst>
              <a:ext uri="{FF2B5EF4-FFF2-40B4-BE49-F238E27FC236}">
                <a16:creationId xmlns:a16="http://schemas.microsoft.com/office/drawing/2014/main" id="{022306A4-FEB4-A1FB-BABB-A0ABA741395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60CE44C-7BCA-EEF9-7479-4137E0E2808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A45EBAD-B5FC-404B-9E32-0D87212534D7}" type="slidenum">
              <a:rPr lang="en-IN" smtClean="0"/>
              <a:t>‹#›</a:t>
            </a:fld>
            <a:endParaRPr lang="en-IN"/>
          </a:p>
        </p:txBody>
      </p:sp>
    </p:spTree>
    <p:extLst>
      <p:ext uri="{BB962C8B-B14F-4D97-AF65-F5344CB8AC3E}">
        <p14:creationId xmlns:p14="http://schemas.microsoft.com/office/powerpoint/2010/main" val="3702519892"/>
      </p:ext>
    </p:extLst>
  </p:cSld>
  <p:clrMap bg1="lt1" tx1="dk1" bg2="lt2" tx2="dk2" accent1="accent1" accent2="accent2" accent3="accent3" accent4="accent4" accent5="accent5" accent6="accent6" hlink="hlink" folHlink="folHlink"/>
  <p:sldLayoutIdLst>
    <p:sldLayoutId id="2147483766" r:id="rId1"/>
    <p:sldLayoutId id="2147483767" r:id="rId2"/>
    <p:sldLayoutId id="2147483768" r:id="rId3"/>
    <p:sldLayoutId id="2147483769" r:id="rId4"/>
    <p:sldLayoutId id="2147483770" r:id="rId5"/>
    <p:sldLayoutId id="2147483771" r:id="rId6"/>
    <p:sldLayoutId id="2147483772" r:id="rId7"/>
    <p:sldLayoutId id="2147483773" r:id="rId8"/>
    <p:sldLayoutId id="2147483774" r:id="rId9"/>
    <p:sldLayoutId id="2147483775" r:id="rId10"/>
    <p:sldLayoutId id="2147483776"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hyperlink" Target="https://github.com/AbdulRehaman7/dht11-interfacing/blob/main/DHT11STM32.C" TargetMode="External"/><Relationship Id="rId1" Type="http://schemas.openxmlformats.org/officeDocument/2006/relationships/slideLayout" Target="../slideLayouts/slideLayout4.xml"/><Relationship Id="rId5" Type="http://schemas.openxmlformats.org/officeDocument/2006/relationships/image" Target="../media/image19.png"/><Relationship Id="rId4" Type="http://schemas.openxmlformats.org/officeDocument/2006/relationships/image" Target="../media/image18.png"/></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github.com/AbdulRehaman7/dht11-interfacing/blob/main/DHT11LPC1768.C" TargetMode="External"/><Relationship Id="rId1" Type="http://schemas.openxmlformats.org/officeDocument/2006/relationships/slideLayout" Target="../slideLayouts/slideLayout4.xml"/><Relationship Id="rId4" Type="http://schemas.openxmlformats.org/officeDocument/2006/relationships/image" Target="../media/image21.png"/></Relationships>
</file>

<file path=ppt/slides/_rels/slide27.xml.rels><?xml version="1.0" encoding="UTF-8" standalone="yes"?>
<Relationships xmlns="http://schemas.openxmlformats.org/package/2006/relationships"><Relationship Id="rId3" Type="http://schemas.openxmlformats.org/officeDocument/2006/relationships/hyperlink" Target="https://github.com/AbdulRehaman7/dht11-interfacing" TargetMode="External"/><Relationship Id="rId2" Type="http://schemas.openxmlformats.org/officeDocument/2006/relationships/hyperlink" Target="https://iotbyhvm.ooo/dht11-vs-dht22-overview/"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DC2E039-8446-CE93-3FDB-72C0D5BA44FF}"/>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14166" y="372420"/>
            <a:ext cx="9163665" cy="1268361"/>
          </a:xfrm>
          <a:prstGeom prst="rect">
            <a:avLst/>
          </a:prstGeom>
          <a:noFill/>
          <a:ln>
            <a:noFill/>
          </a:ln>
        </p:spPr>
      </p:pic>
      <p:sp>
        <p:nvSpPr>
          <p:cNvPr id="5" name="TextBox 4">
            <a:extLst>
              <a:ext uri="{FF2B5EF4-FFF2-40B4-BE49-F238E27FC236}">
                <a16:creationId xmlns:a16="http://schemas.microsoft.com/office/drawing/2014/main" id="{0D520546-2A49-BAFB-A5C5-97B88AF1752B}"/>
              </a:ext>
            </a:extLst>
          </p:cNvPr>
          <p:cNvSpPr txBox="1"/>
          <p:nvPr/>
        </p:nvSpPr>
        <p:spPr>
          <a:xfrm>
            <a:off x="2153264" y="1640781"/>
            <a:ext cx="7885470" cy="5447645"/>
          </a:xfrm>
          <a:prstGeom prst="rect">
            <a:avLst/>
          </a:prstGeom>
          <a:noFill/>
        </p:spPr>
        <p:txBody>
          <a:bodyPr wrap="square" rtlCol="0">
            <a:spAutoFit/>
          </a:bodyPr>
          <a:lstStyle/>
          <a:p>
            <a:pPr algn="ctr">
              <a:lnSpc>
                <a:spcPct val="150000"/>
              </a:lnSpc>
            </a:pPr>
            <a:r>
              <a:rPr lang="en-IN" sz="2800" dirty="0">
                <a:latin typeface="Times New Roman" panose="02020603050405020304" pitchFamily="18" charset="0"/>
                <a:cs typeface="Times New Roman" panose="02020603050405020304" pitchFamily="18" charset="0"/>
              </a:rPr>
              <a:t>Seminar on</a:t>
            </a:r>
          </a:p>
          <a:p>
            <a:pPr algn="ctr"/>
            <a:r>
              <a:rPr lang="en-IN" sz="3200" dirty="0">
                <a:latin typeface="Times New Roman" panose="02020603050405020304" pitchFamily="18" charset="0"/>
                <a:cs typeface="Times New Roman" panose="02020603050405020304" pitchFamily="18" charset="0"/>
              </a:rPr>
              <a:t>“WORKING AND INTERFACING OF DHT11 TEMPERATURE SENSOR”</a:t>
            </a:r>
          </a:p>
          <a:p>
            <a:pPr algn="ctr">
              <a:lnSpc>
                <a:spcPct val="150000"/>
              </a:lnSpc>
            </a:pPr>
            <a:r>
              <a:rPr lang="en-IN" sz="2800" dirty="0">
                <a:latin typeface="Times New Roman" panose="02020603050405020304" pitchFamily="18" charset="0"/>
                <a:cs typeface="Times New Roman" panose="02020603050405020304" pitchFamily="18" charset="0"/>
              </a:rPr>
              <a:t>by</a:t>
            </a:r>
          </a:p>
          <a:p>
            <a:pPr algn="ctr"/>
            <a:r>
              <a:rPr lang="en-IN" sz="2800" dirty="0">
                <a:latin typeface="Times New Roman" panose="02020603050405020304" pitchFamily="18" charset="0"/>
                <a:cs typeface="Times New Roman" panose="02020603050405020304" pitchFamily="18" charset="0"/>
              </a:rPr>
              <a:t>Abdul Rehman</a:t>
            </a:r>
          </a:p>
          <a:p>
            <a:pPr algn="ctr"/>
            <a:r>
              <a:rPr lang="en-IN" sz="2800" dirty="0">
                <a:latin typeface="Times New Roman" panose="02020603050405020304" pitchFamily="18" charset="0"/>
                <a:cs typeface="Times New Roman" panose="02020603050405020304" pitchFamily="18" charset="0"/>
              </a:rPr>
              <a:t>26109023009</a:t>
            </a:r>
          </a:p>
          <a:p>
            <a:pPr algn="ctr"/>
            <a:endParaRPr lang="en-IN" sz="2800" dirty="0">
              <a:latin typeface="Times New Roman" panose="02020603050405020304" pitchFamily="18" charset="0"/>
              <a:cs typeface="Times New Roman" panose="02020603050405020304" pitchFamily="18" charset="0"/>
            </a:endParaRPr>
          </a:p>
          <a:p>
            <a:pPr algn="ctr"/>
            <a:r>
              <a:rPr lang="en-IN" sz="2800" dirty="0"/>
              <a:t>First Semester MTech.</a:t>
            </a:r>
          </a:p>
          <a:p>
            <a:pPr algn="ctr"/>
            <a:r>
              <a:rPr lang="en-IN" sz="2800" dirty="0"/>
              <a:t>Embedded Control and Automation</a:t>
            </a:r>
          </a:p>
          <a:p>
            <a:pPr algn="ctr"/>
            <a:r>
              <a:rPr lang="en-IN" sz="2800" dirty="0"/>
              <a:t>school Of Electrical Engineering</a:t>
            </a:r>
          </a:p>
          <a:p>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763324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ED067-D720-237B-C673-384D37F184C0}"/>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Contents:</a:t>
            </a:r>
          </a:p>
        </p:txBody>
      </p:sp>
      <p:sp>
        <p:nvSpPr>
          <p:cNvPr id="3" name="Content Placeholder 2">
            <a:extLst>
              <a:ext uri="{FF2B5EF4-FFF2-40B4-BE49-F238E27FC236}">
                <a16:creationId xmlns:a16="http://schemas.microsoft.com/office/drawing/2014/main" id="{5EE8CCF0-25A7-9DCF-245D-981C26E93FAE}"/>
              </a:ext>
            </a:extLst>
          </p:cNvPr>
          <p:cNvSpPr>
            <a:spLocks noGrp="1"/>
          </p:cNvSpPr>
          <p:nvPr>
            <p:ph idx="1"/>
          </p:nvPr>
        </p:nvSpPr>
        <p:spPr>
          <a:xfrm>
            <a:off x="838200" y="1508384"/>
            <a:ext cx="10515600" cy="4351338"/>
          </a:xfrm>
        </p:spPr>
        <p:txBody>
          <a:bodyPr/>
          <a:lstStyle/>
          <a:p>
            <a:pPr marL="514350" indent="-514350">
              <a:buFont typeface="+mj-lt"/>
              <a:buAutoNum type="arabicPeriod"/>
            </a:pPr>
            <a:r>
              <a:rPr lang="en-IN" dirty="0">
                <a:latin typeface="Times New Roman" panose="02020603050405020304" pitchFamily="18" charset="0"/>
                <a:cs typeface="Times New Roman" panose="02020603050405020304" pitchFamily="18" charset="0"/>
              </a:rPr>
              <a:t>Introduction</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DHT11 Working</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DHT11 Data Format</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 Communication Process</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Interfacing DHT11 With STM32</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Interfacing  DHT11 With LPC1768</a:t>
            </a:r>
          </a:p>
          <a:p>
            <a:pPr marL="514350" indent="-514350">
              <a:buFont typeface="+mj-lt"/>
              <a:buAutoNum type="arabicPeriod"/>
            </a:pPr>
            <a:endParaRPr lang="en-IN" dirty="0"/>
          </a:p>
          <a:p>
            <a:pPr marL="514350" indent="-514350">
              <a:buFont typeface="+mj-lt"/>
              <a:buAutoNum type="arabicPeriod"/>
            </a:pPr>
            <a:endParaRPr lang="en-IN" dirty="0"/>
          </a:p>
        </p:txBody>
      </p:sp>
    </p:spTree>
    <p:extLst>
      <p:ext uri="{BB962C8B-B14F-4D97-AF65-F5344CB8AC3E}">
        <p14:creationId xmlns:p14="http://schemas.microsoft.com/office/powerpoint/2010/main" val="14016198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1D3056-BCFD-F994-BC60-765F00265B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C776FB-C290-E45A-5B10-63FB40E1813E}"/>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9DD744E5-E13E-4230-423C-A075698579AD}"/>
              </a:ext>
            </a:extLst>
          </p:cNvPr>
          <p:cNvSpPr>
            <a:spLocks noGrp="1"/>
          </p:cNvSpPr>
          <p:nvPr>
            <p:ph sz="half" idx="1"/>
          </p:nvPr>
        </p:nvSpPr>
        <p:spPr>
          <a:xfrm>
            <a:off x="838200" y="1557268"/>
            <a:ext cx="7023653" cy="4351338"/>
          </a:xfrm>
        </p:spPr>
        <p:txBody>
          <a:bodyPr>
            <a:normAutofit fontScale="92500" lnSpcReduction="20000"/>
          </a:bodyPr>
          <a:lstStyle/>
          <a:p>
            <a:pPr marL="0" indent="0" algn="just">
              <a:buNone/>
            </a:pPr>
            <a:r>
              <a:rPr lang="en-US" dirty="0">
                <a:latin typeface="Times New Roman" panose="02020603050405020304" pitchFamily="18" charset="0"/>
                <a:cs typeface="Times New Roman" panose="02020603050405020304" pitchFamily="18" charset="0"/>
              </a:rPr>
              <a:t>The DHT11 is a low-cost digital humidity and temperature sensor that is used to measure the environmental conditions around it. It combines a resistive humidity sensing element, a negative temperature coefficient (NTC) thermistor for measuring temperature, and an 8-bit microcontroller which calculates the values and gives calibrated digital output. The DHT11 uses a single wire digital interface to communicate with the microcontroller. It is appropriate for use in embedded systems and environmental monitoring systems such as weather stations. It is cheap and easy to interface, hence useful in projects involving temperature and humidity measurements [1].</a:t>
            </a:r>
            <a:endParaRPr lang="en-IN" dirty="0">
              <a:latin typeface="Times New Roman" panose="02020603050405020304" pitchFamily="18" charset="0"/>
              <a:cs typeface="Times New Roman" panose="02020603050405020304" pitchFamily="18" charset="0"/>
            </a:endParaRPr>
          </a:p>
        </p:txBody>
      </p:sp>
      <p:pic>
        <p:nvPicPr>
          <p:cNvPr id="6" name="Content Placeholder 5" descr="DHT11 Sensor Overview and Data Transfer">
            <a:extLst>
              <a:ext uri="{FF2B5EF4-FFF2-40B4-BE49-F238E27FC236}">
                <a16:creationId xmlns:a16="http://schemas.microsoft.com/office/drawing/2014/main" id="{315DDEFB-A53A-B2BD-DEDC-D78D7A5963E9}"/>
              </a:ext>
            </a:extLst>
          </p:cNvPr>
          <p:cNvPicPr>
            <a:picLocks noGrp="1" noChangeAspect="1"/>
          </p:cNvPicPr>
          <p:nvPr>
            <p:ph sz="half" idx="2"/>
          </p:nvPr>
        </p:nvPicPr>
        <p:blipFill>
          <a:blip r:embed="rId2"/>
          <a:stretch>
            <a:fillRect/>
          </a:stretch>
        </p:blipFill>
        <p:spPr>
          <a:xfrm>
            <a:off x="8309114" y="1580839"/>
            <a:ext cx="3437489" cy="3696321"/>
          </a:xfrm>
          <a:prstGeom prst="rect">
            <a:avLst/>
          </a:prstGeom>
        </p:spPr>
      </p:pic>
    </p:spTree>
    <p:extLst>
      <p:ext uri="{BB962C8B-B14F-4D97-AF65-F5344CB8AC3E}">
        <p14:creationId xmlns:p14="http://schemas.microsoft.com/office/powerpoint/2010/main" val="19361540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E3716B-DC4D-312A-FA5B-F6457657CA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404CC8-7BCE-6B8C-7E4C-8CD33AE1C63C}"/>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DHT11 FEATURES:</a:t>
            </a:r>
          </a:p>
        </p:txBody>
      </p:sp>
      <p:sp>
        <p:nvSpPr>
          <p:cNvPr id="4" name="Content Placeholder 3">
            <a:extLst>
              <a:ext uri="{FF2B5EF4-FFF2-40B4-BE49-F238E27FC236}">
                <a16:creationId xmlns:a16="http://schemas.microsoft.com/office/drawing/2014/main" id="{5233DDC3-F05B-616B-F25D-F40F50D67002}"/>
              </a:ext>
            </a:extLst>
          </p:cNvPr>
          <p:cNvSpPr>
            <a:spLocks noGrp="1"/>
          </p:cNvSpPr>
          <p:nvPr>
            <p:ph idx="1"/>
          </p:nvPr>
        </p:nvSpPr>
        <p:spPr>
          <a:xfrm>
            <a:off x="838200" y="1441174"/>
            <a:ext cx="10515600" cy="4735789"/>
          </a:xfrm>
        </p:spPr>
        <p:txBody>
          <a:bodyPr>
            <a:normAutofit fontScale="92500" lnSpcReduction="20000"/>
          </a:bodyPr>
          <a:lstStyle/>
          <a:p>
            <a:pPr algn="just">
              <a:lnSpc>
                <a:spcPct val="120000"/>
              </a:lnSpc>
            </a:pPr>
            <a:r>
              <a:rPr lang="en-IN" sz="2000" dirty="0">
                <a:latin typeface="Times New Roman" panose="02020603050405020304" pitchFamily="18" charset="0"/>
                <a:cs typeface="Times New Roman" panose="02020603050405020304" pitchFamily="18" charset="0"/>
              </a:rPr>
              <a:t>DHT11 is a low-cost, small-sized &amp; easy-to-operate embedded sensor, consisting of 4 pins, used to measure Temperature(0°C to 50°C with ±2°C accuracy ) &amp; Relative Humidity (20% to 80% with ±5% accuracy ) and provides calibrated digital output.[2]</a:t>
            </a:r>
          </a:p>
          <a:p>
            <a:pPr algn="just">
              <a:lnSpc>
                <a:spcPct val="120000"/>
              </a:lnSpc>
            </a:pPr>
            <a:r>
              <a:rPr lang="en-IN" sz="2000" dirty="0">
                <a:latin typeface="Times New Roman" panose="02020603050405020304" pitchFamily="18" charset="0"/>
                <a:cs typeface="Times New Roman" panose="02020603050405020304" pitchFamily="18" charset="0"/>
              </a:rPr>
              <a:t>DHT11 has a Capacitive Sensor for measuring humidity &amp; NTC Thermistor for temperature sensing. [2]</a:t>
            </a:r>
          </a:p>
          <a:p>
            <a:pPr algn="just">
              <a:lnSpc>
                <a:spcPct val="120000"/>
              </a:lnSpc>
            </a:pPr>
            <a:r>
              <a:rPr lang="en-IN" sz="2000" dirty="0">
                <a:latin typeface="Times New Roman" panose="02020603050405020304" pitchFamily="18" charset="0"/>
                <a:cs typeface="Times New Roman" panose="02020603050405020304" pitchFamily="18" charset="0"/>
              </a:rPr>
              <a:t>DHT11 updates the output value once every 2 seconds[2]</a:t>
            </a:r>
          </a:p>
          <a:p>
            <a:pPr algn="just">
              <a:lnSpc>
                <a:spcPct val="120000"/>
              </a:lnSpc>
            </a:pPr>
            <a:r>
              <a:rPr lang="en-IN" sz="2000" dirty="0">
                <a:latin typeface="Times New Roman" panose="02020603050405020304" pitchFamily="18" charset="0"/>
                <a:cs typeface="Times New Roman" panose="02020603050405020304" pitchFamily="18" charset="0"/>
              </a:rPr>
              <a:t>Small-size, low-cost, precise &amp; calibrated output and up to 20 meters signal transmission stand it out from other sensors. [2]</a:t>
            </a:r>
          </a:p>
          <a:p>
            <a:pPr algn="just">
              <a:lnSpc>
                <a:spcPct val="120000"/>
              </a:lnSpc>
            </a:pPr>
            <a:r>
              <a:rPr lang="en-IN" sz="2000" dirty="0">
                <a:latin typeface="Times New Roman" panose="02020603050405020304" pitchFamily="18" charset="0"/>
                <a:cs typeface="Times New Roman" panose="02020603050405020304" pitchFamily="18" charset="0"/>
              </a:rPr>
              <a:t>DHT11 uses a single-wire serial interface for data processing. [2]</a:t>
            </a:r>
          </a:p>
          <a:p>
            <a:pPr algn="just">
              <a:lnSpc>
                <a:spcPct val="120000"/>
              </a:lnSpc>
            </a:pPr>
            <a:r>
              <a:rPr lang="en-IN" sz="2000" dirty="0">
                <a:latin typeface="Times New Roman" panose="02020603050405020304" pitchFamily="18" charset="0"/>
                <a:cs typeface="Times New Roman" panose="02020603050405020304" pitchFamily="18" charset="0"/>
              </a:rPr>
              <a:t>It has a sampling frequency of 1Hz, so it samples the data after every 1sec. [2]</a:t>
            </a:r>
          </a:p>
          <a:p>
            <a:pPr algn="just">
              <a:lnSpc>
                <a:spcPct val="120000"/>
              </a:lnSpc>
            </a:pPr>
            <a:r>
              <a:rPr lang="en-IN" sz="2000" dirty="0">
                <a:latin typeface="Times New Roman" panose="02020603050405020304" pitchFamily="18" charset="0"/>
                <a:cs typeface="Times New Roman" panose="02020603050405020304" pitchFamily="18" charset="0"/>
              </a:rPr>
              <a:t>DHT11 has a dimension of 27mm x 59mm x 13.5mm (1.05" x 2.32" x 0.53"). [2]</a:t>
            </a:r>
          </a:p>
          <a:p>
            <a:pPr algn="just">
              <a:lnSpc>
                <a:spcPct val="120000"/>
              </a:lnSpc>
            </a:pPr>
            <a:r>
              <a:rPr lang="en-IN" sz="2000" dirty="0">
                <a:latin typeface="Times New Roman" panose="02020603050405020304" pitchFamily="18" charset="0"/>
                <a:cs typeface="Times New Roman" panose="02020603050405020304" pitchFamily="18" charset="0"/>
              </a:rPr>
              <a:t>It is quite accurate &amp; precise in its readings as compared to other expensive sensors i.e. SHT10, DS18B20 etc. [2]</a:t>
            </a:r>
          </a:p>
        </p:txBody>
      </p:sp>
    </p:spTree>
    <p:extLst>
      <p:ext uri="{BB962C8B-B14F-4D97-AF65-F5344CB8AC3E}">
        <p14:creationId xmlns:p14="http://schemas.microsoft.com/office/powerpoint/2010/main" val="40800533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757625-6B64-A139-9828-B4059D46D3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87D8A3-EAAA-2057-FA10-2AFD2BE453F4}"/>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DHT11 PIN OUT:</a:t>
            </a:r>
          </a:p>
        </p:txBody>
      </p:sp>
      <p:graphicFrame>
        <p:nvGraphicFramePr>
          <p:cNvPr id="11" name="Content Placeholder 10">
            <a:extLst>
              <a:ext uri="{FF2B5EF4-FFF2-40B4-BE49-F238E27FC236}">
                <a16:creationId xmlns:a16="http://schemas.microsoft.com/office/drawing/2014/main" id="{5157D564-65D4-B167-2325-F7314E099616}"/>
              </a:ext>
            </a:extLst>
          </p:cNvPr>
          <p:cNvGraphicFramePr>
            <a:graphicFrameLocks noGrp="1"/>
          </p:cNvGraphicFramePr>
          <p:nvPr>
            <p:ph sz="half" idx="1"/>
            <p:extLst>
              <p:ext uri="{D42A27DB-BD31-4B8C-83A1-F6EECF244321}">
                <p14:modId xmlns:p14="http://schemas.microsoft.com/office/powerpoint/2010/main" val="844717323"/>
              </p:ext>
            </p:extLst>
          </p:nvPr>
        </p:nvGraphicFramePr>
        <p:xfrm>
          <a:off x="838200" y="1560443"/>
          <a:ext cx="5976939" cy="4472610"/>
        </p:xfrm>
        <a:graphic>
          <a:graphicData uri="http://schemas.openxmlformats.org/drawingml/2006/table">
            <a:tbl>
              <a:tblPr>
                <a:tableStyleId>{5C22544A-7EE6-4342-B048-85BDC9FD1C3A}</a:tableStyleId>
              </a:tblPr>
              <a:tblGrid>
                <a:gridCol w="1159565">
                  <a:extLst>
                    <a:ext uri="{9D8B030D-6E8A-4147-A177-3AD203B41FA5}">
                      <a16:colId xmlns:a16="http://schemas.microsoft.com/office/drawing/2014/main" val="2145131481"/>
                    </a:ext>
                  </a:extLst>
                </a:gridCol>
                <a:gridCol w="944218">
                  <a:extLst>
                    <a:ext uri="{9D8B030D-6E8A-4147-A177-3AD203B41FA5}">
                      <a16:colId xmlns:a16="http://schemas.microsoft.com/office/drawing/2014/main" val="654076646"/>
                    </a:ext>
                  </a:extLst>
                </a:gridCol>
                <a:gridCol w="3873156">
                  <a:extLst>
                    <a:ext uri="{9D8B030D-6E8A-4147-A177-3AD203B41FA5}">
                      <a16:colId xmlns:a16="http://schemas.microsoft.com/office/drawing/2014/main" val="701048822"/>
                    </a:ext>
                  </a:extLst>
                </a:gridCol>
              </a:tblGrid>
              <a:tr h="900929">
                <a:tc>
                  <a:txBody>
                    <a:bodyPr/>
                    <a:lstStyle/>
                    <a:p>
                      <a:pPr algn="ctr">
                        <a:buNone/>
                      </a:pPr>
                      <a:r>
                        <a:rPr lang="en-IN" sz="2000" b="1" dirty="0">
                          <a:effectLst/>
                          <a:latin typeface="Times New Roman" panose="02020603050405020304" pitchFamily="18" charset="0"/>
                          <a:cs typeface="Times New Roman" panose="02020603050405020304" pitchFamily="18" charset="0"/>
                        </a:rPr>
                        <a:t>Pin </a:t>
                      </a:r>
                    </a:p>
                  </a:txBody>
                  <a:tcPr marL="51973" marR="51973" marT="25987" marB="25987" anchor="ctr"/>
                </a:tc>
                <a:tc>
                  <a:txBody>
                    <a:bodyPr/>
                    <a:lstStyle/>
                    <a:p>
                      <a:pPr algn="ctr">
                        <a:buNone/>
                      </a:pPr>
                      <a:r>
                        <a:rPr lang="en-IN" sz="2000" b="1" dirty="0">
                          <a:effectLst/>
                          <a:latin typeface="Times New Roman" panose="02020603050405020304" pitchFamily="18" charset="0"/>
                          <a:cs typeface="Times New Roman" panose="02020603050405020304" pitchFamily="18" charset="0"/>
                        </a:rPr>
                        <a:t>Type</a:t>
                      </a:r>
                    </a:p>
                  </a:txBody>
                  <a:tcPr marL="51973" marR="51973" marT="25987" marB="25987" anchor="ctr"/>
                </a:tc>
                <a:tc>
                  <a:txBody>
                    <a:bodyPr/>
                    <a:lstStyle/>
                    <a:p>
                      <a:pPr algn="ctr">
                        <a:buNone/>
                      </a:pPr>
                      <a:r>
                        <a:rPr lang="en-IN" sz="2000" b="1" dirty="0">
                          <a:effectLst/>
                          <a:latin typeface="Times New Roman" panose="02020603050405020304" pitchFamily="18" charset="0"/>
                          <a:cs typeface="Times New Roman" panose="02020603050405020304" pitchFamily="18" charset="0"/>
                        </a:rPr>
                        <a:t>Parameters</a:t>
                      </a:r>
                    </a:p>
                  </a:txBody>
                  <a:tcPr marL="51973" marR="51973" marT="25987" marB="25987" anchor="ctr"/>
                </a:tc>
                <a:extLst>
                  <a:ext uri="{0D108BD9-81ED-4DB2-BD59-A6C34878D82A}">
                    <a16:rowId xmlns:a16="http://schemas.microsoft.com/office/drawing/2014/main" val="2171117029"/>
                  </a:ext>
                </a:extLst>
              </a:tr>
              <a:tr h="636713">
                <a:tc>
                  <a:txBody>
                    <a:bodyPr/>
                    <a:lstStyle/>
                    <a:p>
                      <a:pPr algn="ctr">
                        <a:buNone/>
                      </a:pPr>
                      <a:r>
                        <a:rPr lang="en-IN" sz="1800" dirty="0">
                          <a:effectLst/>
                          <a:latin typeface="Times New Roman" panose="02020603050405020304" pitchFamily="18" charset="0"/>
                          <a:cs typeface="Times New Roman" panose="02020603050405020304" pitchFamily="18" charset="0"/>
                        </a:rPr>
                        <a:t>Pin 1</a:t>
                      </a:r>
                    </a:p>
                  </a:txBody>
                  <a:tcPr marL="51973" marR="51973" marT="25987" marB="25987" anchor="ctr"/>
                </a:tc>
                <a:tc>
                  <a:txBody>
                    <a:bodyPr/>
                    <a:lstStyle/>
                    <a:p>
                      <a:pPr algn="ctr">
                        <a:buNone/>
                      </a:pPr>
                      <a:r>
                        <a:rPr lang="en-IN" sz="1800" dirty="0">
                          <a:effectLst/>
                          <a:latin typeface="Times New Roman" panose="02020603050405020304" pitchFamily="18" charset="0"/>
                          <a:cs typeface="Times New Roman" panose="02020603050405020304" pitchFamily="18" charset="0"/>
                        </a:rPr>
                        <a:t>VCC</a:t>
                      </a:r>
                    </a:p>
                  </a:txBody>
                  <a:tcPr marL="51973" marR="51973" marT="25987" marB="25987" anchor="ctr"/>
                </a:tc>
                <a:tc>
                  <a:txBody>
                    <a:bodyPr/>
                    <a:lstStyle/>
                    <a:p>
                      <a:pPr algn="ctr">
                        <a:buNone/>
                      </a:pPr>
                      <a:r>
                        <a:rPr lang="en-IN" sz="1800" dirty="0">
                          <a:effectLst/>
                          <a:latin typeface="Times New Roman" panose="02020603050405020304" pitchFamily="18" charset="0"/>
                          <a:cs typeface="Times New Roman" panose="02020603050405020304" pitchFamily="18" charset="0"/>
                        </a:rPr>
                        <a:t>Provide 3.3V to 5V at this pin.</a:t>
                      </a:r>
                    </a:p>
                  </a:txBody>
                  <a:tcPr marL="51973" marR="51973" marT="25987" marB="25987" anchor="ctr"/>
                </a:tc>
                <a:extLst>
                  <a:ext uri="{0D108BD9-81ED-4DB2-BD59-A6C34878D82A}">
                    <a16:rowId xmlns:a16="http://schemas.microsoft.com/office/drawing/2014/main" val="1594911050"/>
                  </a:ext>
                </a:extLst>
              </a:tr>
              <a:tr h="841143">
                <a:tc>
                  <a:txBody>
                    <a:bodyPr/>
                    <a:lstStyle/>
                    <a:p>
                      <a:pPr algn="ctr">
                        <a:buNone/>
                      </a:pPr>
                      <a:r>
                        <a:rPr lang="en-IN" sz="1800" dirty="0">
                          <a:effectLst/>
                          <a:latin typeface="Times New Roman" panose="02020603050405020304" pitchFamily="18" charset="0"/>
                          <a:cs typeface="Times New Roman" panose="02020603050405020304" pitchFamily="18" charset="0"/>
                        </a:rPr>
                        <a:t>Pin 2</a:t>
                      </a:r>
                    </a:p>
                  </a:txBody>
                  <a:tcPr marL="51973" marR="51973" marT="25987" marB="25987" anchor="ctr"/>
                </a:tc>
                <a:tc>
                  <a:txBody>
                    <a:bodyPr/>
                    <a:lstStyle/>
                    <a:p>
                      <a:pPr algn="ctr">
                        <a:buNone/>
                      </a:pPr>
                      <a:r>
                        <a:rPr lang="en-IN" sz="1800" dirty="0">
                          <a:effectLst/>
                          <a:latin typeface="Times New Roman" panose="02020603050405020304" pitchFamily="18" charset="0"/>
                          <a:cs typeface="Times New Roman" panose="02020603050405020304" pitchFamily="18" charset="0"/>
                        </a:rPr>
                        <a:t>Data</a:t>
                      </a:r>
                    </a:p>
                  </a:txBody>
                  <a:tcPr marL="51973" marR="51973" marT="25987" marB="25987" anchor="ctr"/>
                </a:tc>
                <a:tc>
                  <a:txBody>
                    <a:bodyPr/>
                    <a:lstStyle/>
                    <a:p>
                      <a:pPr algn="ctr">
                        <a:buNone/>
                      </a:pPr>
                      <a:r>
                        <a:rPr lang="en-IN" sz="1800" dirty="0">
                          <a:effectLst/>
                          <a:latin typeface="Times New Roman" panose="02020603050405020304" pitchFamily="18" charset="0"/>
                          <a:cs typeface="Times New Roman" panose="02020603050405020304" pitchFamily="18" charset="0"/>
                        </a:rPr>
                        <a:t>This pin provides a digital output.</a:t>
                      </a:r>
                    </a:p>
                  </a:txBody>
                  <a:tcPr marL="51973" marR="51973" marT="25987" marB="25987" anchor="ctr"/>
                </a:tc>
                <a:extLst>
                  <a:ext uri="{0D108BD9-81ED-4DB2-BD59-A6C34878D82A}">
                    <a16:rowId xmlns:a16="http://schemas.microsoft.com/office/drawing/2014/main" val="1392911432"/>
                  </a:ext>
                </a:extLst>
              </a:tr>
              <a:tr h="979572">
                <a:tc>
                  <a:txBody>
                    <a:bodyPr/>
                    <a:lstStyle/>
                    <a:p>
                      <a:pPr algn="ctr">
                        <a:buNone/>
                      </a:pPr>
                      <a:r>
                        <a:rPr lang="en-IN" sz="1800" dirty="0">
                          <a:effectLst/>
                          <a:latin typeface="Times New Roman" panose="02020603050405020304" pitchFamily="18" charset="0"/>
                          <a:cs typeface="Times New Roman" panose="02020603050405020304" pitchFamily="18" charset="0"/>
                        </a:rPr>
                        <a:t>Pin 3</a:t>
                      </a:r>
                    </a:p>
                  </a:txBody>
                  <a:tcPr marL="51973" marR="51973" marT="25987" marB="25987" anchor="ctr"/>
                </a:tc>
                <a:tc>
                  <a:txBody>
                    <a:bodyPr/>
                    <a:lstStyle/>
                    <a:p>
                      <a:pPr algn="ctr">
                        <a:buNone/>
                      </a:pPr>
                      <a:r>
                        <a:rPr lang="en-IN" sz="1800" dirty="0">
                          <a:effectLst/>
                          <a:latin typeface="Times New Roman" panose="02020603050405020304" pitchFamily="18" charset="0"/>
                          <a:cs typeface="Times New Roman" panose="02020603050405020304" pitchFamily="18" charset="0"/>
                        </a:rPr>
                        <a:t>NC</a:t>
                      </a:r>
                    </a:p>
                  </a:txBody>
                  <a:tcPr marL="51973" marR="51973" marT="25987" marB="25987" anchor="ctr"/>
                </a:tc>
                <a:tc>
                  <a:txBody>
                    <a:bodyPr/>
                    <a:lstStyle/>
                    <a:p>
                      <a:pPr algn="ctr">
                        <a:buNone/>
                      </a:pPr>
                      <a:r>
                        <a:rPr lang="en-IN" sz="1800" dirty="0">
                          <a:effectLst/>
                          <a:latin typeface="Times New Roman" panose="02020603050405020304" pitchFamily="18" charset="0"/>
                          <a:cs typeface="Times New Roman" panose="02020603050405020304" pitchFamily="18" charset="0"/>
                        </a:rPr>
                        <a:t>Not Connected.</a:t>
                      </a:r>
                    </a:p>
                  </a:txBody>
                  <a:tcPr marL="51973" marR="51973" marT="25987" marB="25987" anchor="ctr"/>
                </a:tc>
                <a:extLst>
                  <a:ext uri="{0D108BD9-81ED-4DB2-BD59-A6C34878D82A}">
                    <a16:rowId xmlns:a16="http://schemas.microsoft.com/office/drawing/2014/main" val="3948011097"/>
                  </a:ext>
                </a:extLst>
              </a:tr>
              <a:tr h="1114253">
                <a:tc>
                  <a:txBody>
                    <a:bodyPr/>
                    <a:lstStyle/>
                    <a:p>
                      <a:pPr algn="ctr">
                        <a:buNone/>
                      </a:pPr>
                      <a:r>
                        <a:rPr lang="en-IN" sz="1800" dirty="0">
                          <a:effectLst/>
                          <a:latin typeface="Times New Roman" panose="02020603050405020304" pitchFamily="18" charset="0"/>
                          <a:cs typeface="Times New Roman" panose="02020603050405020304" pitchFamily="18" charset="0"/>
                        </a:rPr>
                        <a:t>Pin 4</a:t>
                      </a:r>
                    </a:p>
                  </a:txBody>
                  <a:tcPr marL="51973" marR="51973" marT="25987" marB="25987" anchor="ctr"/>
                </a:tc>
                <a:tc>
                  <a:txBody>
                    <a:bodyPr/>
                    <a:lstStyle/>
                    <a:p>
                      <a:pPr algn="ctr">
                        <a:buNone/>
                      </a:pPr>
                      <a:r>
                        <a:rPr lang="en-IN" sz="1800" dirty="0">
                          <a:effectLst/>
                          <a:latin typeface="Times New Roman" panose="02020603050405020304" pitchFamily="18" charset="0"/>
                          <a:cs typeface="Times New Roman" panose="02020603050405020304" pitchFamily="18" charset="0"/>
                        </a:rPr>
                        <a:t>GND</a:t>
                      </a:r>
                    </a:p>
                  </a:txBody>
                  <a:tcPr marL="51973" marR="51973" marT="25987" marB="25987" anchor="ctr"/>
                </a:tc>
                <a:tc>
                  <a:txBody>
                    <a:bodyPr/>
                    <a:lstStyle/>
                    <a:p>
                      <a:pPr algn="ctr">
                        <a:buNone/>
                      </a:pPr>
                      <a:r>
                        <a:rPr lang="en-IN" sz="1800" dirty="0">
                          <a:effectLst/>
                          <a:latin typeface="Times New Roman" panose="02020603050405020304" pitchFamily="18" charset="0"/>
                          <a:cs typeface="Times New Roman" panose="02020603050405020304" pitchFamily="18" charset="0"/>
                        </a:rPr>
                        <a:t>This pin is used for Ground</a:t>
                      </a:r>
                    </a:p>
                  </a:txBody>
                  <a:tcPr marL="51973" marR="51973" marT="25987" marB="25987" anchor="ctr"/>
                </a:tc>
                <a:extLst>
                  <a:ext uri="{0D108BD9-81ED-4DB2-BD59-A6C34878D82A}">
                    <a16:rowId xmlns:a16="http://schemas.microsoft.com/office/drawing/2014/main" val="2488565400"/>
                  </a:ext>
                </a:extLst>
              </a:tr>
            </a:tbl>
          </a:graphicData>
        </a:graphic>
      </p:graphicFrame>
      <p:pic>
        <p:nvPicPr>
          <p:cNvPr id="6" name="Content Placeholder 5" descr="Figure 2. DHT11 Sensor and Module Pinout.png">
            <a:extLst>
              <a:ext uri="{FF2B5EF4-FFF2-40B4-BE49-F238E27FC236}">
                <a16:creationId xmlns:a16="http://schemas.microsoft.com/office/drawing/2014/main" id="{4494B824-74D6-9886-6AAF-B6B826A88A93}"/>
              </a:ext>
            </a:extLst>
          </p:cNvPr>
          <p:cNvPicPr>
            <a:picLocks noGrp="1" noChangeAspect="1"/>
          </p:cNvPicPr>
          <p:nvPr>
            <p:ph sz="half" idx="2"/>
          </p:nvPr>
        </p:nvPicPr>
        <p:blipFill>
          <a:blip r:embed="rId2"/>
          <a:stretch>
            <a:fillRect/>
          </a:stretch>
        </p:blipFill>
        <p:spPr>
          <a:xfrm>
            <a:off x="6927575" y="1560443"/>
            <a:ext cx="4999382" cy="4472610"/>
          </a:xfrm>
          <a:prstGeom prst="rect">
            <a:avLst/>
          </a:prstGeom>
        </p:spPr>
      </p:pic>
    </p:spTree>
    <p:extLst>
      <p:ext uri="{BB962C8B-B14F-4D97-AF65-F5344CB8AC3E}">
        <p14:creationId xmlns:p14="http://schemas.microsoft.com/office/powerpoint/2010/main" val="27992716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CDD220-07EA-5EF0-01C3-1392AFCD64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AB27EA-8347-F3DB-8344-18380B9F7922}"/>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DHT11 TYPES:</a:t>
            </a:r>
          </a:p>
        </p:txBody>
      </p:sp>
      <p:graphicFrame>
        <p:nvGraphicFramePr>
          <p:cNvPr id="19" name="Content Placeholder 18">
            <a:extLst>
              <a:ext uri="{FF2B5EF4-FFF2-40B4-BE49-F238E27FC236}">
                <a16:creationId xmlns:a16="http://schemas.microsoft.com/office/drawing/2014/main" id="{4AE239CB-A851-0DB4-916E-ECC116CA4243}"/>
              </a:ext>
            </a:extLst>
          </p:cNvPr>
          <p:cNvGraphicFramePr>
            <a:graphicFrameLocks noGrp="1"/>
          </p:cNvGraphicFramePr>
          <p:nvPr>
            <p:ph sz="half" idx="1"/>
            <p:extLst>
              <p:ext uri="{D42A27DB-BD31-4B8C-83A1-F6EECF244321}">
                <p14:modId xmlns:p14="http://schemas.microsoft.com/office/powerpoint/2010/main" val="946700099"/>
              </p:ext>
            </p:extLst>
          </p:nvPr>
        </p:nvGraphicFramePr>
        <p:xfrm>
          <a:off x="838198" y="1560439"/>
          <a:ext cx="10515600" cy="4780728"/>
        </p:xfrm>
        <a:graphic>
          <a:graphicData uri="http://schemas.openxmlformats.org/drawingml/2006/table">
            <a:tbl>
              <a:tblPr firstRow="1">
                <a:tableStyleId>{073A0DAA-6AF3-43AB-8588-CEC1D06C72B9}</a:tableStyleId>
              </a:tblPr>
              <a:tblGrid>
                <a:gridCol w="3505200">
                  <a:extLst>
                    <a:ext uri="{9D8B030D-6E8A-4147-A177-3AD203B41FA5}">
                      <a16:colId xmlns:a16="http://schemas.microsoft.com/office/drawing/2014/main" val="1680999781"/>
                    </a:ext>
                  </a:extLst>
                </a:gridCol>
                <a:gridCol w="3505200">
                  <a:extLst>
                    <a:ext uri="{9D8B030D-6E8A-4147-A177-3AD203B41FA5}">
                      <a16:colId xmlns:a16="http://schemas.microsoft.com/office/drawing/2014/main" val="3764768890"/>
                    </a:ext>
                  </a:extLst>
                </a:gridCol>
                <a:gridCol w="3505200">
                  <a:extLst>
                    <a:ext uri="{9D8B030D-6E8A-4147-A177-3AD203B41FA5}">
                      <a16:colId xmlns:a16="http://schemas.microsoft.com/office/drawing/2014/main" val="2858409828"/>
                    </a:ext>
                  </a:extLst>
                </a:gridCol>
              </a:tblGrid>
              <a:tr h="597591">
                <a:tc>
                  <a:txBody>
                    <a:bodyPr/>
                    <a:lstStyle/>
                    <a:p>
                      <a:pPr algn="ctr">
                        <a:buNone/>
                      </a:pPr>
                      <a:r>
                        <a:rPr lang="en-IN" sz="1600" b="1" dirty="0">
                          <a:effectLst/>
                        </a:rPr>
                        <a:t>Feature</a:t>
                      </a:r>
                      <a:endParaRPr lang="en-IN" sz="1600" b="1" dirty="0">
                        <a:effectLst/>
                        <a:latin typeface="Times New Roman" panose="02020603050405020304" pitchFamily="18" charset="0"/>
                        <a:cs typeface="Times New Roman" panose="02020603050405020304" pitchFamily="18" charset="0"/>
                      </a:endParaRPr>
                    </a:p>
                  </a:txBody>
                  <a:tcPr marL="45057" marR="45057" marT="22529" marB="22529" anchor="ctr"/>
                </a:tc>
                <a:tc>
                  <a:txBody>
                    <a:bodyPr/>
                    <a:lstStyle/>
                    <a:p>
                      <a:pPr algn="ctr">
                        <a:buNone/>
                      </a:pPr>
                      <a:r>
                        <a:rPr lang="en-IN" sz="1600" b="1" dirty="0">
                          <a:effectLst/>
                        </a:rPr>
                        <a:t>DHT11 Sensor </a:t>
                      </a:r>
                    </a:p>
                    <a:p>
                      <a:pPr algn="ctr">
                        <a:buNone/>
                      </a:pPr>
                      <a:r>
                        <a:rPr lang="en-IN" sz="1600" b="1" dirty="0">
                          <a:effectLst/>
                        </a:rPr>
                        <a:t>(Raw 4-Pin)</a:t>
                      </a:r>
                      <a:endParaRPr lang="en-IN" sz="1600" b="1" dirty="0">
                        <a:effectLst/>
                        <a:latin typeface="Times New Roman" panose="02020603050405020304" pitchFamily="18" charset="0"/>
                        <a:cs typeface="Times New Roman" panose="02020603050405020304" pitchFamily="18" charset="0"/>
                      </a:endParaRPr>
                    </a:p>
                  </a:txBody>
                  <a:tcPr marL="45057" marR="45057" marT="22529" marB="22529" anchor="ctr"/>
                </a:tc>
                <a:tc>
                  <a:txBody>
                    <a:bodyPr/>
                    <a:lstStyle/>
                    <a:p>
                      <a:pPr algn="ctr">
                        <a:buNone/>
                      </a:pPr>
                      <a:r>
                        <a:rPr lang="en-IN" sz="1600" b="1" dirty="0">
                          <a:effectLst/>
                        </a:rPr>
                        <a:t>DHT11 Module </a:t>
                      </a:r>
                    </a:p>
                    <a:p>
                      <a:pPr algn="ctr">
                        <a:buNone/>
                      </a:pPr>
                      <a:r>
                        <a:rPr lang="en-IN" sz="1600" b="1" dirty="0">
                          <a:effectLst/>
                        </a:rPr>
                        <a:t>(3-Pin)</a:t>
                      </a:r>
                      <a:endParaRPr lang="en-IN" sz="1600" b="1" dirty="0">
                        <a:effectLst/>
                        <a:latin typeface="Times New Roman" panose="02020603050405020304" pitchFamily="18" charset="0"/>
                        <a:cs typeface="Times New Roman" panose="02020603050405020304" pitchFamily="18" charset="0"/>
                      </a:endParaRPr>
                    </a:p>
                  </a:txBody>
                  <a:tcPr marL="45057" marR="45057" marT="22529" marB="22529" anchor="ctr"/>
                </a:tc>
                <a:extLst>
                  <a:ext uri="{0D108BD9-81ED-4DB2-BD59-A6C34878D82A}">
                    <a16:rowId xmlns:a16="http://schemas.microsoft.com/office/drawing/2014/main" val="1441239655"/>
                  </a:ext>
                </a:extLst>
              </a:tr>
              <a:tr h="597591">
                <a:tc>
                  <a:txBody>
                    <a:bodyPr/>
                    <a:lstStyle/>
                    <a:p>
                      <a:pPr algn="ctr">
                        <a:buNone/>
                      </a:pPr>
                      <a:r>
                        <a:rPr lang="en-IN" sz="1600" dirty="0">
                          <a:effectLst/>
                        </a:rPr>
                        <a:t>Number of Pins</a:t>
                      </a:r>
                      <a:endParaRPr lang="en-IN" sz="1600" dirty="0">
                        <a:effectLst/>
                        <a:latin typeface="Times New Roman" panose="02020603050405020304" pitchFamily="18" charset="0"/>
                        <a:cs typeface="Times New Roman" panose="02020603050405020304" pitchFamily="18" charset="0"/>
                      </a:endParaRPr>
                    </a:p>
                  </a:txBody>
                  <a:tcPr marL="45057" marR="45057" marT="22529" marB="22529" anchor="ctr"/>
                </a:tc>
                <a:tc>
                  <a:txBody>
                    <a:bodyPr/>
                    <a:lstStyle/>
                    <a:p>
                      <a:pPr algn="ctr">
                        <a:buNone/>
                      </a:pPr>
                      <a:r>
                        <a:rPr lang="en-IN" sz="1600" dirty="0">
                          <a:effectLst/>
                        </a:rPr>
                        <a:t>4 pins</a:t>
                      </a:r>
                      <a:endParaRPr lang="en-IN" sz="1600" dirty="0">
                        <a:effectLst/>
                        <a:latin typeface="Times New Roman" panose="02020603050405020304" pitchFamily="18" charset="0"/>
                        <a:cs typeface="Times New Roman" panose="02020603050405020304" pitchFamily="18" charset="0"/>
                      </a:endParaRPr>
                    </a:p>
                  </a:txBody>
                  <a:tcPr marL="45057" marR="45057" marT="22529" marB="22529" anchor="ctr"/>
                </a:tc>
                <a:tc>
                  <a:txBody>
                    <a:bodyPr/>
                    <a:lstStyle/>
                    <a:p>
                      <a:pPr algn="ctr">
                        <a:buNone/>
                      </a:pPr>
                      <a:r>
                        <a:rPr lang="en-IN" sz="1600" dirty="0">
                          <a:effectLst/>
                        </a:rPr>
                        <a:t>3 pins</a:t>
                      </a:r>
                      <a:endParaRPr lang="en-IN" sz="1600" dirty="0">
                        <a:effectLst/>
                        <a:latin typeface="Times New Roman" panose="02020603050405020304" pitchFamily="18" charset="0"/>
                        <a:cs typeface="Times New Roman" panose="02020603050405020304" pitchFamily="18" charset="0"/>
                      </a:endParaRPr>
                    </a:p>
                  </a:txBody>
                  <a:tcPr marL="45057" marR="45057" marT="22529" marB="22529" anchor="ctr"/>
                </a:tc>
                <a:extLst>
                  <a:ext uri="{0D108BD9-81ED-4DB2-BD59-A6C34878D82A}">
                    <a16:rowId xmlns:a16="http://schemas.microsoft.com/office/drawing/2014/main" val="894915388"/>
                  </a:ext>
                </a:extLst>
              </a:tr>
              <a:tr h="597591">
                <a:tc>
                  <a:txBody>
                    <a:bodyPr/>
                    <a:lstStyle/>
                    <a:p>
                      <a:pPr algn="ctr">
                        <a:buNone/>
                      </a:pPr>
                      <a:r>
                        <a:rPr lang="en-IN" sz="1600" dirty="0">
                          <a:effectLst/>
                        </a:rPr>
                        <a:t>Pull-up Resistor</a:t>
                      </a:r>
                      <a:endParaRPr lang="en-IN" sz="1600" dirty="0">
                        <a:effectLst/>
                        <a:latin typeface="Times New Roman" panose="02020603050405020304" pitchFamily="18" charset="0"/>
                        <a:cs typeface="Times New Roman" panose="02020603050405020304" pitchFamily="18" charset="0"/>
                      </a:endParaRPr>
                    </a:p>
                  </a:txBody>
                  <a:tcPr marL="45057" marR="45057" marT="22529" marB="22529" anchor="ctr"/>
                </a:tc>
                <a:tc>
                  <a:txBody>
                    <a:bodyPr/>
                    <a:lstStyle/>
                    <a:p>
                      <a:pPr algn="ctr">
                        <a:buNone/>
                      </a:pPr>
                      <a:r>
                        <a:rPr lang="en-IN" sz="1600" dirty="0">
                          <a:effectLst/>
                        </a:rPr>
                        <a:t>Not included (must add manually)</a:t>
                      </a:r>
                      <a:endParaRPr lang="en-IN" sz="1600" dirty="0">
                        <a:effectLst/>
                        <a:latin typeface="Times New Roman" panose="02020603050405020304" pitchFamily="18" charset="0"/>
                        <a:cs typeface="Times New Roman" panose="02020603050405020304" pitchFamily="18" charset="0"/>
                      </a:endParaRPr>
                    </a:p>
                  </a:txBody>
                  <a:tcPr marL="45057" marR="45057" marT="22529" marB="22529" anchor="ctr"/>
                </a:tc>
                <a:tc>
                  <a:txBody>
                    <a:bodyPr/>
                    <a:lstStyle/>
                    <a:p>
                      <a:pPr algn="ctr">
                        <a:buNone/>
                      </a:pPr>
                      <a:r>
                        <a:rPr lang="en-IN" sz="1600" dirty="0">
                          <a:effectLst/>
                        </a:rPr>
                        <a:t>Built-in resistor</a:t>
                      </a:r>
                      <a:endParaRPr lang="en-IN" sz="1600" dirty="0">
                        <a:effectLst/>
                        <a:latin typeface="Times New Roman" panose="02020603050405020304" pitchFamily="18" charset="0"/>
                        <a:cs typeface="Times New Roman" panose="02020603050405020304" pitchFamily="18" charset="0"/>
                      </a:endParaRPr>
                    </a:p>
                  </a:txBody>
                  <a:tcPr marL="45057" marR="45057" marT="22529" marB="22529" anchor="ctr"/>
                </a:tc>
                <a:extLst>
                  <a:ext uri="{0D108BD9-81ED-4DB2-BD59-A6C34878D82A}">
                    <a16:rowId xmlns:a16="http://schemas.microsoft.com/office/drawing/2014/main" val="1893978204"/>
                  </a:ext>
                </a:extLst>
              </a:tr>
              <a:tr h="597591">
                <a:tc>
                  <a:txBody>
                    <a:bodyPr/>
                    <a:lstStyle/>
                    <a:p>
                      <a:pPr algn="ctr">
                        <a:buNone/>
                      </a:pPr>
                      <a:r>
                        <a:rPr lang="en-IN" sz="1600">
                          <a:effectLst/>
                        </a:rPr>
                        <a:t>Ease of Wiring</a:t>
                      </a:r>
                      <a:endParaRPr lang="en-IN" sz="1600">
                        <a:effectLst/>
                        <a:latin typeface="Times New Roman" panose="02020603050405020304" pitchFamily="18" charset="0"/>
                        <a:cs typeface="Times New Roman" panose="02020603050405020304" pitchFamily="18" charset="0"/>
                      </a:endParaRPr>
                    </a:p>
                  </a:txBody>
                  <a:tcPr marL="45057" marR="45057" marT="22529" marB="22529" anchor="ctr"/>
                </a:tc>
                <a:tc>
                  <a:txBody>
                    <a:bodyPr/>
                    <a:lstStyle/>
                    <a:p>
                      <a:pPr algn="ctr">
                        <a:buNone/>
                      </a:pPr>
                      <a:r>
                        <a:rPr lang="en-IN" sz="1600" dirty="0">
                          <a:effectLst/>
                        </a:rPr>
                        <a:t>Requires more wiring</a:t>
                      </a:r>
                      <a:endParaRPr lang="en-IN" sz="1600" dirty="0">
                        <a:effectLst/>
                        <a:latin typeface="Times New Roman" panose="02020603050405020304" pitchFamily="18" charset="0"/>
                        <a:cs typeface="Times New Roman" panose="02020603050405020304" pitchFamily="18" charset="0"/>
                      </a:endParaRPr>
                    </a:p>
                  </a:txBody>
                  <a:tcPr marL="45057" marR="45057" marT="22529" marB="22529" anchor="ctr"/>
                </a:tc>
                <a:tc>
                  <a:txBody>
                    <a:bodyPr/>
                    <a:lstStyle/>
                    <a:p>
                      <a:pPr algn="ctr">
                        <a:buNone/>
                      </a:pPr>
                      <a:r>
                        <a:rPr lang="en-IN" sz="1600" dirty="0">
                          <a:effectLst/>
                        </a:rPr>
                        <a:t>Very easy to connect</a:t>
                      </a:r>
                      <a:endParaRPr lang="en-IN" sz="1600" dirty="0">
                        <a:effectLst/>
                        <a:latin typeface="Times New Roman" panose="02020603050405020304" pitchFamily="18" charset="0"/>
                        <a:cs typeface="Times New Roman" panose="02020603050405020304" pitchFamily="18" charset="0"/>
                      </a:endParaRPr>
                    </a:p>
                  </a:txBody>
                  <a:tcPr marL="45057" marR="45057" marT="22529" marB="22529" anchor="ctr"/>
                </a:tc>
                <a:extLst>
                  <a:ext uri="{0D108BD9-81ED-4DB2-BD59-A6C34878D82A}">
                    <a16:rowId xmlns:a16="http://schemas.microsoft.com/office/drawing/2014/main" val="1005585927"/>
                  </a:ext>
                </a:extLst>
              </a:tr>
              <a:tr h="597591">
                <a:tc>
                  <a:txBody>
                    <a:bodyPr/>
                    <a:lstStyle/>
                    <a:p>
                      <a:pPr algn="ctr">
                        <a:buNone/>
                      </a:pPr>
                      <a:r>
                        <a:rPr lang="en-IN" sz="1600" dirty="0">
                          <a:effectLst/>
                        </a:rPr>
                        <a:t>Size</a:t>
                      </a:r>
                      <a:endParaRPr lang="en-IN" sz="1600" dirty="0">
                        <a:effectLst/>
                        <a:latin typeface="Times New Roman" panose="02020603050405020304" pitchFamily="18" charset="0"/>
                        <a:cs typeface="Times New Roman" panose="02020603050405020304" pitchFamily="18" charset="0"/>
                      </a:endParaRPr>
                    </a:p>
                  </a:txBody>
                  <a:tcPr marL="45057" marR="45057" marT="22529" marB="22529" anchor="ctr"/>
                </a:tc>
                <a:tc>
                  <a:txBody>
                    <a:bodyPr/>
                    <a:lstStyle/>
                    <a:p>
                      <a:pPr algn="ctr">
                        <a:buNone/>
                      </a:pPr>
                      <a:r>
                        <a:rPr lang="en-IN" sz="1600" dirty="0">
                          <a:effectLst/>
                        </a:rPr>
                        <a:t>Smaller, raw component</a:t>
                      </a:r>
                      <a:endParaRPr lang="en-IN" sz="1600" dirty="0">
                        <a:effectLst/>
                        <a:latin typeface="Times New Roman" panose="02020603050405020304" pitchFamily="18" charset="0"/>
                        <a:cs typeface="Times New Roman" panose="02020603050405020304" pitchFamily="18" charset="0"/>
                      </a:endParaRPr>
                    </a:p>
                  </a:txBody>
                  <a:tcPr marL="45057" marR="45057" marT="22529" marB="22529" anchor="ctr"/>
                </a:tc>
                <a:tc>
                  <a:txBody>
                    <a:bodyPr/>
                    <a:lstStyle/>
                    <a:p>
                      <a:pPr algn="ctr">
                        <a:buNone/>
                      </a:pPr>
                      <a:r>
                        <a:rPr lang="en-IN" sz="1600" dirty="0">
                          <a:effectLst/>
                        </a:rPr>
                        <a:t>Slightly larger due to PCB</a:t>
                      </a:r>
                      <a:endParaRPr lang="en-IN" sz="1600" dirty="0">
                        <a:effectLst/>
                        <a:latin typeface="Times New Roman" panose="02020603050405020304" pitchFamily="18" charset="0"/>
                        <a:cs typeface="Times New Roman" panose="02020603050405020304" pitchFamily="18" charset="0"/>
                      </a:endParaRPr>
                    </a:p>
                  </a:txBody>
                  <a:tcPr marL="45057" marR="45057" marT="22529" marB="22529" anchor="ctr"/>
                </a:tc>
                <a:extLst>
                  <a:ext uri="{0D108BD9-81ED-4DB2-BD59-A6C34878D82A}">
                    <a16:rowId xmlns:a16="http://schemas.microsoft.com/office/drawing/2014/main" val="2865288300"/>
                  </a:ext>
                </a:extLst>
              </a:tr>
              <a:tr h="597591">
                <a:tc>
                  <a:txBody>
                    <a:bodyPr/>
                    <a:lstStyle/>
                    <a:p>
                      <a:pPr algn="ctr">
                        <a:buNone/>
                      </a:pPr>
                      <a:r>
                        <a:rPr lang="en-IN" sz="1600">
                          <a:effectLst/>
                        </a:rPr>
                        <a:t>Consumer Level</a:t>
                      </a:r>
                      <a:endParaRPr lang="en-IN" sz="1600">
                        <a:effectLst/>
                        <a:latin typeface="Times New Roman" panose="02020603050405020304" pitchFamily="18" charset="0"/>
                        <a:cs typeface="Times New Roman" panose="02020603050405020304" pitchFamily="18" charset="0"/>
                      </a:endParaRPr>
                    </a:p>
                  </a:txBody>
                  <a:tcPr marL="45057" marR="45057" marT="22529" marB="22529" anchor="ctr"/>
                </a:tc>
                <a:tc>
                  <a:txBody>
                    <a:bodyPr/>
                    <a:lstStyle/>
                    <a:p>
                      <a:pPr algn="ctr">
                        <a:buNone/>
                      </a:pPr>
                      <a:r>
                        <a:rPr lang="en-IN" sz="1600">
                          <a:effectLst/>
                        </a:rPr>
                        <a:t>Better for experienced</a:t>
                      </a:r>
                      <a:endParaRPr lang="en-IN" sz="1600">
                        <a:effectLst/>
                        <a:latin typeface="Times New Roman" panose="02020603050405020304" pitchFamily="18" charset="0"/>
                        <a:cs typeface="Times New Roman" panose="02020603050405020304" pitchFamily="18" charset="0"/>
                      </a:endParaRPr>
                    </a:p>
                  </a:txBody>
                  <a:tcPr marL="45057" marR="45057" marT="22529" marB="22529" anchor="ctr"/>
                </a:tc>
                <a:tc>
                  <a:txBody>
                    <a:bodyPr/>
                    <a:lstStyle/>
                    <a:p>
                      <a:pPr algn="ctr">
                        <a:buNone/>
                      </a:pPr>
                      <a:r>
                        <a:rPr lang="en-IN" sz="1600" dirty="0">
                          <a:effectLst/>
                        </a:rPr>
                        <a:t>Beginner-friendly</a:t>
                      </a:r>
                      <a:endParaRPr lang="en-IN" sz="1600" dirty="0">
                        <a:effectLst/>
                        <a:latin typeface="Times New Roman" panose="02020603050405020304" pitchFamily="18" charset="0"/>
                        <a:cs typeface="Times New Roman" panose="02020603050405020304" pitchFamily="18" charset="0"/>
                      </a:endParaRPr>
                    </a:p>
                  </a:txBody>
                  <a:tcPr marL="45057" marR="45057" marT="22529" marB="22529" anchor="ctr"/>
                </a:tc>
                <a:extLst>
                  <a:ext uri="{0D108BD9-81ED-4DB2-BD59-A6C34878D82A}">
                    <a16:rowId xmlns:a16="http://schemas.microsoft.com/office/drawing/2014/main" val="1249053688"/>
                  </a:ext>
                </a:extLst>
              </a:tr>
              <a:tr h="597591">
                <a:tc>
                  <a:txBody>
                    <a:bodyPr/>
                    <a:lstStyle/>
                    <a:p>
                      <a:pPr algn="ctr">
                        <a:buNone/>
                      </a:pPr>
                      <a:r>
                        <a:rPr lang="en-IN" sz="1600">
                          <a:effectLst/>
                        </a:rPr>
                        <a:t>Connection Pins</a:t>
                      </a:r>
                      <a:endParaRPr lang="en-IN" sz="1600">
                        <a:effectLst/>
                        <a:latin typeface="Times New Roman" panose="02020603050405020304" pitchFamily="18" charset="0"/>
                        <a:cs typeface="Times New Roman" panose="02020603050405020304" pitchFamily="18" charset="0"/>
                      </a:endParaRPr>
                    </a:p>
                  </a:txBody>
                  <a:tcPr marL="45057" marR="45057" marT="22529" marB="22529" anchor="ctr"/>
                </a:tc>
                <a:tc>
                  <a:txBody>
                    <a:bodyPr/>
                    <a:lstStyle/>
                    <a:p>
                      <a:pPr algn="ctr">
                        <a:buNone/>
                      </a:pPr>
                      <a:r>
                        <a:rPr lang="en-IN" sz="1600">
                          <a:effectLst/>
                        </a:rPr>
                        <a:t>VCC, Data, NC, GND</a:t>
                      </a:r>
                      <a:endParaRPr lang="en-IN" sz="1600">
                        <a:effectLst/>
                        <a:latin typeface="Times New Roman" panose="02020603050405020304" pitchFamily="18" charset="0"/>
                        <a:cs typeface="Times New Roman" panose="02020603050405020304" pitchFamily="18" charset="0"/>
                      </a:endParaRPr>
                    </a:p>
                  </a:txBody>
                  <a:tcPr marL="45057" marR="45057" marT="22529" marB="22529" anchor="ctr"/>
                </a:tc>
                <a:tc>
                  <a:txBody>
                    <a:bodyPr/>
                    <a:lstStyle/>
                    <a:p>
                      <a:pPr algn="ctr">
                        <a:buNone/>
                      </a:pPr>
                      <a:r>
                        <a:rPr lang="en-IN" sz="1600" dirty="0">
                          <a:effectLst/>
                        </a:rPr>
                        <a:t>VCC, Data, GND</a:t>
                      </a:r>
                      <a:endParaRPr lang="en-IN" sz="1600" dirty="0">
                        <a:effectLst/>
                        <a:latin typeface="Times New Roman" panose="02020603050405020304" pitchFamily="18" charset="0"/>
                        <a:cs typeface="Times New Roman" panose="02020603050405020304" pitchFamily="18" charset="0"/>
                      </a:endParaRPr>
                    </a:p>
                  </a:txBody>
                  <a:tcPr marL="45057" marR="45057" marT="22529" marB="22529" anchor="ctr"/>
                </a:tc>
                <a:extLst>
                  <a:ext uri="{0D108BD9-81ED-4DB2-BD59-A6C34878D82A}">
                    <a16:rowId xmlns:a16="http://schemas.microsoft.com/office/drawing/2014/main" val="3334291301"/>
                  </a:ext>
                </a:extLst>
              </a:tr>
              <a:tr h="597591">
                <a:tc>
                  <a:txBody>
                    <a:bodyPr/>
                    <a:lstStyle/>
                    <a:p>
                      <a:pPr algn="ctr">
                        <a:buNone/>
                      </a:pPr>
                      <a:r>
                        <a:rPr lang="en-IN" sz="1600">
                          <a:effectLst/>
                        </a:rPr>
                        <a:t>Risk of Error</a:t>
                      </a:r>
                      <a:endParaRPr lang="en-IN" sz="1600">
                        <a:effectLst/>
                        <a:latin typeface="Times New Roman" panose="02020603050405020304" pitchFamily="18" charset="0"/>
                        <a:cs typeface="Times New Roman" panose="02020603050405020304" pitchFamily="18" charset="0"/>
                      </a:endParaRPr>
                    </a:p>
                  </a:txBody>
                  <a:tcPr marL="45057" marR="45057" marT="22529" marB="22529" anchor="ctr"/>
                </a:tc>
                <a:tc>
                  <a:txBody>
                    <a:bodyPr/>
                    <a:lstStyle/>
                    <a:p>
                      <a:pPr algn="ctr">
                        <a:buNone/>
                      </a:pPr>
                      <a:r>
                        <a:rPr lang="en-IN" sz="1600">
                          <a:effectLst/>
                        </a:rPr>
                        <a:t>Higher (manual resistor needed)</a:t>
                      </a:r>
                      <a:endParaRPr lang="en-IN" sz="1600">
                        <a:effectLst/>
                        <a:latin typeface="Times New Roman" panose="02020603050405020304" pitchFamily="18" charset="0"/>
                        <a:cs typeface="Times New Roman" panose="02020603050405020304" pitchFamily="18" charset="0"/>
                      </a:endParaRPr>
                    </a:p>
                  </a:txBody>
                  <a:tcPr marL="45057" marR="45057" marT="22529" marB="22529" anchor="ctr"/>
                </a:tc>
                <a:tc>
                  <a:txBody>
                    <a:bodyPr/>
                    <a:lstStyle/>
                    <a:p>
                      <a:pPr algn="ctr">
                        <a:buNone/>
                      </a:pPr>
                      <a:r>
                        <a:rPr lang="en-IN" sz="1600" dirty="0">
                          <a:effectLst/>
                        </a:rPr>
                        <a:t>Lower (plug-and-play)</a:t>
                      </a:r>
                      <a:endParaRPr lang="en-IN" sz="1600" dirty="0">
                        <a:effectLst/>
                        <a:latin typeface="Times New Roman" panose="02020603050405020304" pitchFamily="18" charset="0"/>
                        <a:cs typeface="Times New Roman" panose="02020603050405020304" pitchFamily="18" charset="0"/>
                      </a:endParaRPr>
                    </a:p>
                  </a:txBody>
                  <a:tcPr marL="45057" marR="45057" marT="22529" marB="22529" anchor="ctr"/>
                </a:tc>
                <a:extLst>
                  <a:ext uri="{0D108BD9-81ED-4DB2-BD59-A6C34878D82A}">
                    <a16:rowId xmlns:a16="http://schemas.microsoft.com/office/drawing/2014/main" val="2563517617"/>
                  </a:ext>
                </a:extLst>
              </a:tr>
            </a:tbl>
          </a:graphicData>
        </a:graphic>
      </p:graphicFrame>
    </p:spTree>
    <p:extLst>
      <p:ext uri="{BB962C8B-B14F-4D97-AF65-F5344CB8AC3E}">
        <p14:creationId xmlns:p14="http://schemas.microsoft.com/office/powerpoint/2010/main" val="11749093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BDBF88-0147-51C4-A041-4986C9BDB1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E1B932-7FA5-53C6-EBE8-CD0D1F8C4FB2}"/>
              </a:ext>
            </a:extLst>
          </p:cNvPr>
          <p:cNvSpPr>
            <a:spLocks noGrp="1"/>
          </p:cNvSpPr>
          <p:nvPr>
            <p:ph type="title"/>
          </p:nvPr>
        </p:nvSpPr>
        <p:spPr/>
        <p:txBody>
          <a:bodyPr>
            <a:normAutofit/>
          </a:bodyPr>
          <a:lstStyle/>
          <a:p>
            <a:r>
              <a:rPr lang="en-IN" b="1" dirty="0">
                <a:latin typeface="Times New Roman" panose="02020603050405020304" pitchFamily="18" charset="0"/>
                <a:cs typeface="Times New Roman" panose="02020603050405020304" pitchFamily="18" charset="0"/>
              </a:rPr>
              <a:t>TECHNICAL SPECIFICATIONS:</a:t>
            </a:r>
            <a:br>
              <a:rPr lang="en-IN" b="1" dirty="0">
                <a:latin typeface="Times New Roman" panose="02020603050405020304" pitchFamily="18" charset="0"/>
                <a:cs typeface="Times New Roman" panose="02020603050405020304" pitchFamily="18" charset="0"/>
              </a:rPr>
            </a:br>
            <a:r>
              <a:rPr lang="en-IN" sz="3600" b="1" dirty="0">
                <a:latin typeface="Times New Roman" panose="02020603050405020304" pitchFamily="18" charset="0"/>
                <a:cs typeface="Times New Roman" panose="02020603050405020304" pitchFamily="18" charset="0"/>
              </a:rPr>
              <a:t>overview:</a:t>
            </a:r>
            <a:endParaRPr lang="en-IN" b="1" dirty="0">
              <a:latin typeface="Times New Roman" panose="02020603050405020304" pitchFamily="18" charset="0"/>
              <a:cs typeface="Times New Roman" panose="02020603050405020304" pitchFamily="18" charset="0"/>
            </a:endParaRPr>
          </a:p>
        </p:txBody>
      </p:sp>
      <p:graphicFrame>
        <p:nvGraphicFramePr>
          <p:cNvPr id="5" name="Content Placeholder 4">
            <a:extLst>
              <a:ext uri="{FF2B5EF4-FFF2-40B4-BE49-F238E27FC236}">
                <a16:creationId xmlns:a16="http://schemas.microsoft.com/office/drawing/2014/main" id="{9EFE10B9-9DCB-3020-4889-B97227C823BC}"/>
              </a:ext>
            </a:extLst>
          </p:cNvPr>
          <p:cNvGraphicFramePr>
            <a:graphicFrameLocks noGrp="1"/>
          </p:cNvGraphicFramePr>
          <p:nvPr>
            <p:ph sz="half" idx="1"/>
            <p:extLst>
              <p:ext uri="{D42A27DB-BD31-4B8C-83A1-F6EECF244321}">
                <p14:modId xmlns:p14="http://schemas.microsoft.com/office/powerpoint/2010/main" val="1104009404"/>
              </p:ext>
            </p:extLst>
          </p:nvPr>
        </p:nvGraphicFramePr>
        <p:xfrm>
          <a:off x="838200" y="1690688"/>
          <a:ext cx="10889974" cy="4660418"/>
        </p:xfrm>
        <a:graphic>
          <a:graphicData uri="http://schemas.openxmlformats.org/drawingml/2006/table">
            <a:tbl>
              <a:tblPr firstRow="1">
                <a:tableStyleId>{073A0DAA-6AF3-43AB-8588-CEC1D06C72B9}</a:tableStyleId>
              </a:tblPr>
              <a:tblGrid>
                <a:gridCol w="5444987">
                  <a:extLst>
                    <a:ext uri="{9D8B030D-6E8A-4147-A177-3AD203B41FA5}">
                      <a16:colId xmlns:a16="http://schemas.microsoft.com/office/drawing/2014/main" val="3602084792"/>
                    </a:ext>
                  </a:extLst>
                </a:gridCol>
                <a:gridCol w="5444987">
                  <a:extLst>
                    <a:ext uri="{9D8B030D-6E8A-4147-A177-3AD203B41FA5}">
                      <a16:colId xmlns:a16="http://schemas.microsoft.com/office/drawing/2014/main" val="372840941"/>
                    </a:ext>
                  </a:extLst>
                </a:gridCol>
              </a:tblGrid>
              <a:tr h="665774">
                <a:tc>
                  <a:txBody>
                    <a:bodyPr/>
                    <a:lstStyle/>
                    <a:p>
                      <a:pPr algn="ctr">
                        <a:buNone/>
                      </a:pPr>
                      <a:r>
                        <a:rPr lang="en-IN" sz="2400" b="1" dirty="0">
                          <a:effectLst/>
                        </a:rPr>
                        <a:t>Parameter</a:t>
                      </a:r>
                      <a:endParaRPr lang="en-IN" sz="2400" b="1" dirty="0">
                        <a:effectLst/>
                        <a:latin typeface="Times New Roman" panose="02020603050405020304" pitchFamily="18" charset="0"/>
                        <a:cs typeface="Times New Roman" panose="02020603050405020304" pitchFamily="18" charset="0"/>
                      </a:endParaRPr>
                    </a:p>
                  </a:txBody>
                  <a:tcPr marL="45057" marR="45057" marT="22529" marB="22529" anchor="ctr"/>
                </a:tc>
                <a:tc>
                  <a:txBody>
                    <a:bodyPr/>
                    <a:lstStyle/>
                    <a:p>
                      <a:pPr algn="ctr">
                        <a:buNone/>
                      </a:pPr>
                      <a:r>
                        <a:rPr lang="en-IN" sz="2400" b="1" dirty="0">
                          <a:effectLst/>
                        </a:rPr>
                        <a:t>Specification</a:t>
                      </a:r>
                      <a:endParaRPr lang="en-IN" sz="2400" b="1" dirty="0">
                        <a:effectLst/>
                        <a:latin typeface="Times New Roman" panose="02020603050405020304" pitchFamily="18" charset="0"/>
                        <a:cs typeface="Times New Roman" panose="02020603050405020304" pitchFamily="18" charset="0"/>
                      </a:endParaRPr>
                    </a:p>
                  </a:txBody>
                  <a:tcPr marL="45057" marR="45057" marT="22529" marB="22529" anchor="ctr"/>
                </a:tc>
                <a:extLst>
                  <a:ext uri="{0D108BD9-81ED-4DB2-BD59-A6C34878D82A}">
                    <a16:rowId xmlns:a16="http://schemas.microsoft.com/office/drawing/2014/main" val="4029975671"/>
                  </a:ext>
                </a:extLst>
              </a:tr>
              <a:tr h="665774">
                <a:tc>
                  <a:txBody>
                    <a:bodyPr/>
                    <a:lstStyle/>
                    <a:p>
                      <a:pPr algn="ctr">
                        <a:buNone/>
                      </a:pPr>
                      <a:r>
                        <a:rPr lang="en-IN" sz="2400" dirty="0">
                          <a:effectLst/>
                        </a:rPr>
                        <a:t>Humidity Range</a:t>
                      </a:r>
                      <a:endParaRPr lang="en-IN" sz="2400" dirty="0">
                        <a:effectLst/>
                        <a:latin typeface="Times New Roman" panose="02020603050405020304" pitchFamily="18" charset="0"/>
                        <a:cs typeface="Times New Roman" panose="02020603050405020304" pitchFamily="18" charset="0"/>
                      </a:endParaRPr>
                    </a:p>
                  </a:txBody>
                  <a:tcPr marL="45057" marR="45057" marT="22529" marB="22529" anchor="ctr"/>
                </a:tc>
                <a:tc>
                  <a:txBody>
                    <a:bodyPr/>
                    <a:lstStyle/>
                    <a:p>
                      <a:pPr algn="ctr">
                        <a:buNone/>
                      </a:pPr>
                      <a:r>
                        <a:rPr lang="en-IN" sz="2400">
                          <a:effectLst/>
                        </a:rPr>
                        <a:t>20-90% RH</a:t>
                      </a:r>
                      <a:endParaRPr lang="en-IN" sz="2400">
                        <a:effectLst/>
                        <a:latin typeface="Times New Roman" panose="02020603050405020304" pitchFamily="18" charset="0"/>
                        <a:cs typeface="Times New Roman" panose="02020603050405020304" pitchFamily="18" charset="0"/>
                      </a:endParaRPr>
                    </a:p>
                  </a:txBody>
                  <a:tcPr marL="45057" marR="45057" marT="22529" marB="22529" anchor="ctr"/>
                </a:tc>
                <a:extLst>
                  <a:ext uri="{0D108BD9-81ED-4DB2-BD59-A6C34878D82A}">
                    <a16:rowId xmlns:a16="http://schemas.microsoft.com/office/drawing/2014/main" val="2294672989"/>
                  </a:ext>
                </a:extLst>
              </a:tr>
              <a:tr h="665774">
                <a:tc>
                  <a:txBody>
                    <a:bodyPr/>
                    <a:lstStyle/>
                    <a:p>
                      <a:pPr algn="ctr">
                        <a:buNone/>
                      </a:pPr>
                      <a:r>
                        <a:rPr lang="en-IN" sz="2400" dirty="0">
                          <a:effectLst/>
                        </a:rPr>
                        <a:t>Temperature Range</a:t>
                      </a:r>
                      <a:endParaRPr lang="en-IN" sz="2400" dirty="0">
                        <a:effectLst/>
                        <a:latin typeface="Times New Roman" panose="02020603050405020304" pitchFamily="18" charset="0"/>
                        <a:cs typeface="Times New Roman" panose="02020603050405020304" pitchFamily="18" charset="0"/>
                      </a:endParaRPr>
                    </a:p>
                  </a:txBody>
                  <a:tcPr marL="45057" marR="45057" marT="22529" marB="22529" anchor="ctr"/>
                </a:tc>
                <a:tc>
                  <a:txBody>
                    <a:bodyPr/>
                    <a:lstStyle/>
                    <a:p>
                      <a:pPr algn="ctr">
                        <a:buNone/>
                      </a:pPr>
                      <a:r>
                        <a:rPr lang="en-IN" sz="2400">
                          <a:effectLst/>
                        </a:rPr>
                        <a:t>0-50 °C</a:t>
                      </a:r>
                      <a:endParaRPr lang="en-IN" sz="2400">
                        <a:effectLst/>
                        <a:latin typeface="Times New Roman" panose="02020603050405020304" pitchFamily="18" charset="0"/>
                        <a:cs typeface="Times New Roman" panose="02020603050405020304" pitchFamily="18" charset="0"/>
                      </a:endParaRPr>
                    </a:p>
                  </a:txBody>
                  <a:tcPr marL="45057" marR="45057" marT="22529" marB="22529" anchor="ctr"/>
                </a:tc>
                <a:extLst>
                  <a:ext uri="{0D108BD9-81ED-4DB2-BD59-A6C34878D82A}">
                    <a16:rowId xmlns:a16="http://schemas.microsoft.com/office/drawing/2014/main" val="3423606612"/>
                  </a:ext>
                </a:extLst>
              </a:tr>
              <a:tr h="665774">
                <a:tc>
                  <a:txBody>
                    <a:bodyPr/>
                    <a:lstStyle/>
                    <a:p>
                      <a:pPr algn="ctr">
                        <a:buNone/>
                      </a:pPr>
                      <a:r>
                        <a:rPr lang="en-IN" sz="2400" dirty="0">
                          <a:effectLst/>
                        </a:rPr>
                        <a:t>Humidity Accuracy</a:t>
                      </a:r>
                      <a:endParaRPr lang="en-IN" sz="2400" dirty="0">
                        <a:effectLst/>
                        <a:latin typeface="Times New Roman" panose="02020603050405020304" pitchFamily="18" charset="0"/>
                        <a:cs typeface="Times New Roman" panose="02020603050405020304" pitchFamily="18" charset="0"/>
                      </a:endParaRPr>
                    </a:p>
                  </a:txBody>
                  <a:tcPr marL="45057" marR="45057" marT="22529" marB="22529" anchor="ctr"/>
                </a:tc>
                <a:tc>
                  <a:txBody>
                    <a:bodyPr/>
                    <a:lstStyle/>
                    <a:p>
                      <a:pPr algn="ctr">
                        <a:buNone/>
                      </a:pPr>
                      <a:r>
                        <a:rPr lang="en-IN" sz="2400">
                          <a:effectLst/>
                        </a:rPr>
                        <a:t>±5% RH</a:t>
                      </a:r>
                      <a:endParaRPr lang="en-IN" sz="2400">
                        <a:effectLst/>
                        <a:latin typeface="Times New Roman" panose="02020603050405020304" pitchFamily="18" charset="0"/>
                        <a:cs typeface="Times New Roman" panose="02020603050405020304" pitchFamily="18" charset="0"/>
                      </a:endParaRPr>
                    </a:p>
                  </a:txBody>
                  <a:tcPr marL="45057" marR="45057" marT="22529" marB="22529" anchor="ctr"/>
                </a:tc>
                <a:extLst>
                  <a:ext uri="{0D108BD9-81ED-4DB2-BD59-A6C34878D82A}">
                    <a16:rowId xmlns:a16="http://schemas.microsoft.com/office/drawing/2014/main" val="566373164"/>
                  </a:ext>
                </a:extLst>
              </a:tr>
              <a:tr h="665774">
                <a:tc>
                  <a:txBody>
                    <a:bodyPr/>
                    <a:lstStyle/>
                    <a:p>
                      <a:pPr algn="ctr">
                        <a:buNone/>
                      </a:pPr>
                      <a:r>
                        <a:rPr lang="en-IN" sz="2400">
                          <a:effectLst/>
                        </a:rPr>
                        <a:t>Temperature Accuracy</a:t>
                      </a:r>
                      <a:endParaRPr lang="en-IN" sz="2400">
                        <a:effectLst/>
                        <a:latin typeface="Times New Roman" panose="02020603050405020304" pitchFamily="18" charset="0"/>
                        <a:cs typeface="Times New Roman" panose="02020603050405020304" pitchFamily="18" charset="0"/>
                      </a:endParaRPr>
                    </a:p>
                  </a:txBody>
                  <a:tcPr marL="45057" marR="45057" marT="22529" marB="22529" anchor="ctr"/>
                </a:tc>
                <a:tc>
                  <a:txBody>
                    <a:bodyPr/>
                    <a:lstStyle/>
                    <a:p>
                      <a:pPr algn="ctr">
                        <a:buNone/>
                      </a:pPr>
                      <a:r>
                        <a:rPr lang="en-IN" sz="2400" dirty="0">
                          <a:effectLst/>
                        </a:rPr>
                        <a:t>±2 °C</a:t>
                      </a:r>
                      <a:endParaRPr lang="en-IN" sz="2400" dirty="0">
                        <a:effectLst/>
                        <a:latin typeface="Times New Roman" panose="02020603050405020304" pitchFamily="18" charset="0"/>
                        <a:cs typeface="Times New Roman" panose="02020603050405020304" pitchFamily="18" charset="0"/>
                      </a:endParaRPr>
                    </a:p>
                  </a:txBody>
                  <a:tcPr marL="45057" marR="45057" marT="22529" marB="22529" anchor="ctr"/>
                </a:tc>
                <a:extLst>
                  <a:ext uri="{0D108BD9-81ED-4DB2-BD59-A6C34878D82A}">
                    <a16:rowId xmlns:a16="http://schemas.microsoft.com/office/drawing/2014/main" val="1449267108"/>
                  </a:ext>
                </a:extLst>
              </a:tr>
              <a:tr h="665774">
                <a:tc>
                  <a:txBody>
                    <a:bodyPr/>
                    <a:lstStyle/>
                    <a:p>
                      <a:pPr algn="ctr">
                        <a:buNone/>
                      </a:pPr>
                      <a:r>
                        <a:rPr lang="en-IN" sz="2400">
                          <a:effectLst/>
                        </a:rPr>
                        <a:t>Resolution</a:t>
                      </a:r>
                      <a:endParaRPr lang="en-IN" sz="2400">
                        <a:effectLst/>
                        <a:latin typeface="Times New Roman" panose="02020603050405020304" pitchFamily="18" charset="0"/>
                        <a:cs typeface="Times New Roman" panose="02020603050405020304" pitchFamily="18" charset="0"/>
                      </a:endParaRPr>
                    </a:p>
                  </a:txBody>
                  <a:tcPr marL="45057" marR="45057" marT="22529" marB="22529" anchor="ctr"/>
                </a:tc>
                <a:tc>
                  <a:txBody>
                    <a:bodyPr/>
                    <a:lstStyle/>
                    <a:p>
                      <a:pPr algn="ctr">
                        <a:buNone/>
                      </a:pPr>
                      <a:r>
                        <a:rPr lang="en-IN" sz="2400" dirty="0">
                          <a:effectLst/>
                        </a:rPr>
                        <a:t>1</a:t>
                      </a:r>
                      <a:endParaRPr lang="en-IN" sz="2400" dirty="0">
                        <a:effectLst/>
                        <a:latin typeface="Times New Roman" panose="02020603050405020304" pitchFamily="18" charset="0"/>
                        <a:cs typeface="Times New Roman" panose="02020603050405020304" pitchFamily="18" charset="0"/>
                      </a:endParaRPr>
                    </a:p>
                  </a:txBody>
                  <a:tcPr marL="45057" marR="45057" marT="22529" marB="22529" anchor="ctr"/>
                </a:tc>
                <a:extLst>
                  <a:ext uri="{0D108BD9-81ED-4DB2-BD59-A6C34878D82A}">
                    <a16:rowId xmlns:a16="http://schemas.microsoft.com/office/drawing/2014/main" val="3457510241"/>
                  </a:ext>
                </a:extLst>
              </a:tr>
              <a:tr h="665774">
                <a:tc>
                  <a:txBody>
                    <a:bodyPr/>
                    <a:lstStyle/>
                    <a:p>
                      <a:pPr algn="ctr">
                        <a:buNone/>
                      </a:pPr>
                      <a:r>
                        <a:rPr lang="en-IN" sz="2400">
                          <a:effectLst/>
                        </a:rPr>
                        <a:t>Package</a:t>
                      </a:r>
                      <a:endParaRPr lang="en-IN" sz="2400">
                        <a:effectLst/>
                        <a:latin typeface="Times New Roman" panose="02020603050405020304" pitchFamily="18" charset="0"/>
                        <a:cs typeface="Times New Roman" panose="02020603050405020304" pitchFamily="18" charset="0"/>
                      </a:endParaRPr>
                    </a:p>
                  </a:txBody>
                  <a:tcPr marL="45057" marR="45057" marT="22529" marB="22529" anchor="ctr"/>
                </a:tc>
                <a:tc>
                  <a:txBody>
                    <a:bodyPr/>
                    <a:lstStyle/>
                    <a:p>
                      <a:pPr algn="ctr">
                        <a:buNone/>
                      </a:pPr>
                      <a:r>
                        <a:rPr lang="en-IN" sz="2400" dirty="0">
                          <a:effectLst/>
                        </a:rPr>
                        <a:t>4 Pin Single-In-Line (SIP)</a:t>
                      </a:r>
                      <a:endParaRPr lang="en-IN" sz="2400" dirty="0">
                        <a:effectLst/>
                        <a:latin typeface="Times New Roman" panose="02020603050405020304" pitchFamily="18" charset="0"/>
                        <a:cs typeface="Times New Roman" panose="02020603050405020304" pitchFamily="18" charset="0"/>
                      </a:endParaRPr>
                    </a:p>
                  </a:txBody>
                  <a:tcPr marL="45057" marR="45057" marT="22529" marB="22529" anchor="ctr"/>
                </a:tc>
                <a:extLst>
                  <a:ext uri="{0D108BD9-81ED-4DB2-BD59-A6C34878D82A}">
                    <a16:rowId xmlns:a16="http://schemas.microsoft.com/office/drawing/2014/main" val="2525268139"/>
                  </a:ext>
                </a:extLst>
              </a:tr>
            </a:tbl>
          </a:graphicData>
        </a:graphic>
      </p:graphicFrame>
    </p:spTree>
    <p:extLst>
      <p:ext uri="{BB962C8B-B14F-4D97-AF65-F5344CB8AC3E}">
        <p14:creationId xmlns:p14="http://schemas.microsoft.com/office/powerpoint/2010/main" val="36012971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A25DE-6323-9EE8-020B-AD2B28089A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1FF8E6-20E1-0AF6-3FB3-46B0FB64F6F4}"/>
              </a:ext>
            </a:extLst>
          </p:cNvPr>
          <p:cNvSpPr>
            <a:spLocks noGrp="1"/>
          </p:cNvSpPr>
          <p:nvPr>
            <p:ph type="title"/>
          </p:nvPr>
        </p:nvSpPr>
        <p:spPr>
          <a:xfrm>
            <a:off x="838200" y="218661"/>
            <a:ext cx="10515600" cy="1325563"/>
          </a:xfrm>
        </p:spPr>
        <p:txBody>
          <a:bodyPr/>
          <a:lstStyle/>
          <a:p>
            <a:r>
              <a:rPr lang="en-IN" b="1" dirty="0">
                <a:latin typeface="Times New Roman" panose="02020603050405020304" pitchFamily="18" charset="0"/>
                <a:cs typeface="Times New Roman" panose="02020603050405020304" pitchFamily="18" charset="0"/>
              </a:rPr>
              <a:t>TECHNICAL SPECIFICATIONS</a:t>
            </a:r>
            <a:r>
              <a:rPr lang="en-IN" sz="3600" b="1" dirty="0">
                <a:latin typeface="Times New Roman" panose="02020603050405020304" pitchFamily="18" charset="0"/>
                <a:cs typeface="Times New Roman" panose="02020603050405020304" pitchFamily="18" charset="0"/>
              </a:rPr>
              <a:t>(detailed):</a:t>
            </a:r>
            <a:endParaRPr lang="en-IN" b="1" dirty="0">
              <a:latin typeface="Times New Roman" panose="02020603050405020304" pitchFamily="18" charset="0"/>
              <a:cs typeface="Times New Roman" panose="02020603050405020304" pitchFamily="18" charset="0"/>
            </a:endParaRPr>
          </a:p>
        </p:txBody>
      </p:sp>
      <p:pic>
        <p:nvPicPr>
          <p:cNvPr id="7" name="Content Placeholder 6">
            <a:extLst>
              <a:ext uri="{FF2B5EF4-FFF2-40B4-BE49-F238E27FC236}">
                <a16:creationId xmlns:a16="http://schemas.microsoft.com/office/drawing/2014/main" id="{EECABB7A-5903-43D1-250A-B06B000CF6E0}"/>
              </a:ext>
            </a:extLst>
          </p:cNvPr>
          <p:cNvPicPr>
            <a:picLocks noGrp="1" noChangeAspect="1"/>
          </p:cNvPicPr>
          <p:nvPr>
            <p:ph sz="half" idx="1"/>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2087216" y="1162878"/>
            <a:ext cx="8001001" cy="5476461"/>
          </a:xfrm>
          <a:prstGeom prst="rect">
            <a:avLst/>
          </a:prstGeom>
        </p:spPr>
      </p:pic>
    </p:spTree>
    <p:extLst>
      <p:ext uri="{BB962C8B-B14F-4D97-AF65-F5344CB8AC3E}">
        <p14:creationId xmlns:p14="http://schemas.microsoft.com/office/powerpoint/2010/main" val="10686622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98E3A-CCB4-58A6-FC87-D5B34739E1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FE26E1-0959-51EA-21DE-6178534909D6}"/>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ELECTRICAL CHARACTERISTICS:</a:t>
            </a:r>
          </a:p>
        </p:txBody>
      </p:sp>
      <p:pic>
        <p:nvPicPr>
          <p:cNvPr id="10" name="Content Placeholder 9">
            <a:extLst>
              <a:ext uri="{FF2B5EF4-FFF2-40B4-BE49-F238E27FC236}">
                <a16:creationId xmlns:a16="http://schemas.microsoft.com/office/drawing/2014/main" id="{63E44338-F354-09C4-C61D-C056F08471C8}"/>
              </a:ext>
            </a:extLst>
          </p:cNvPr>
          <p:cNvPicPr>
            <a:picLocks noGrp="1" noChangeAspect="1"/>
          </p:cNvPicPr>
          <p:nvPr>
            <p:ph sz="half" idx="1"/>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rcRect l="704" t="2456" r="306"/>
          <a:stretch>
            <a:fillRect/>
          </a:stretch>
        </p:blipFill>
        <p:spPr>
          <a:xfrm>
            <a:off x="1093304" y="1590261"/>
            <a:ext cx="9640957" cy="4591878"/>
          </a:xfrm>
          <a:prstGeom prst="rect">
            <a:avLst/>
          </a:prstGeom>
        </p:spPr>
      </p:pic>
    </p:spTree>
    <p:extLst>
      <p:ext uri="{BB962C8B-B14F-4D97-AF65-F5344CB8AC3E}">
        <p14:creationId xmlns:p14="http://schemas.microsoft.com/office/powerpoint/2010/main" val="33161403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C85C93-3884-EB26-754E-7185FBCBAD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21381A-8EBA-EE80-7022-12EA9CADCFF9}"/>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DHT11 WORKING:</a:t>
            </a:r>
          </a:p>
        </p:txBody>
      </p:sp>
      <p:sp>
        <p:nvSpPr>
          <p:cNvPr id="6" name="Content Placeholder 5">
            <a:extLst>
              <a:ext uri="{FF2B5EF4-FFF2-40B4-BE49-F238E27FC236}">
                <a16:creationId xmlns:a16="http://schemas.microsoft.com/office/drawing/2014/main" id="{AC40A91F-B75E-0631-6A28-5309B7F1B09C}"/>
              </a:ext>
            </a:extLst>
          </p:cNvPr>
          <p:cNvSpPr>
            <a:spLocks noGrp="1"/>
          </p:cNvSpPr>
          <p:nvPr>
            <p:ph sz="half" idx="1"/>
          </p:nvPr>
        </p:nvSpPr>
        <p:spPr>
          <a:xfrm>
            <a:off x="838199" y="1321904"/>
            <a:ext cx="6586331" cy="5327374"/>
          </a:xfrm>
        </p:spPr>
        <p:txBody>
          <a:bodyPr>
            <a:normAutofit fontScale="92500"/>
          </a:bodyPr>
          <a:lstStyle/>
          <a:p>
            <a:pPr marL="0" indent="0" algn="just">
              <a:lnSpc>
                <a:spcPct val="120000"/>
              </a:lnSpc>
              <a:buNone/>
            </a:pPr>
            <a:r>
              <a:rPr lang="en-US" sz="2400" dirty="0">
                <a:latin typeface="Times New Roman" panose="02020603050405020304" pitchFamily="18" charset="0"/>
                <a:cs typeface="Times New Roman" panose="02020603050405020304" pitchFamily="18" charset="0"/>
              </a:rPr>
              <a:t>The DHT11 sensor is made up of three major internal parts. These include the capacitive humidity sensor, NTC (Negative Temperature Coefficient) thermistor, and the 8-bit microcontroller. The capacitive humidity sensor detects the humidity in the environment through measuring capacitance. The NTC thermistor detects the temperature in the environment through measuring the change in resistance with respect to temperature. The 8-bit microcontroller processes the signals from the two sensors and translates them into digital data on humidity and temperature. It then packages the data into a 40-bit data frame that includes 16 bits for humidity, 16 bits for temperature, and 8 bits for the checksum.[2]</a:t>
            </a:r>
            <a:endParaRPr lang="en-IN" sz="2400" dirty="0">
              <a:latin typeface="Times New Roman" panose="02020603050405020304" pitchFamily="18" charset="0"/>
              <a:cs typeface="Times New Roman" panose="02020603050405020304" pitchFamily="18" charset="0"/>
            </a:endParaRPr>
          </a:p>
        </p:txBody>
      </p:sp>
      <p:pic>
        <p:nvPicPr>
          <p:cNvPr id="9" name="Content Placeholder 8">
            <a:extLst>
              <a:ext uri="{FF2B5EF4-FFF2-40B4-BE49-F238E27FC236}">
                <a16:creationId xmlns:a16="http://schemas.microsoft.com/office/drawing/2014/main" id="{F8284F7A-E2D7-0EC0-F25D-4F85DD75C249}"/>
              </a:ext>
            </a:extLst>
          </p:cNvPr>
          <p:cNvPicPr>
            <a:picLocks noGrp="1" noChangeAspect="1"/>
          </p:cNvPicPr>
          <p:nvPr>
            <p:ph sz="half" idx="2"/>
          </p:nvPr>
        </p:nvPicPr>
        <p:blipFill>
          <a:blip r:embed="rId2"/>
          <a:stretch>
            <a:fillRect/>
          </a:stretch>
        </p:blipFill>
        <p:spPr>
          <a:xfrm>
            <a:off x="7424530" y="1321903"/>
            <a:ext cx="4429125" cy="1990725"/>
          </a:xfrm>
          <a:prstGeom prst="rect">
            <a:avLst/>
          </a:prstGeom>
        </p:spPr>
      </p:pic>
      <p:pic>
        <p:nvPicPr>
          <p:cNvPr id="15" name="Picture 14">
            <a:extLst>
              <a:ext uri="{FF2B5EF4-FFF2-40B4-BE49-F238E27FC236}">
                <a16:creationId xmlns:a16="http://schemas.microsoft.com/office/drawing/2014/main" id="{3845E4ED-1840-DBE7-69EC-86B6597EFC53}"/>
              </a:ext>
            </a:extLst>
          </p:cNvPr>
          <p:cNvPicPr>
            <a:picLocks noChangeAspect="1"/>
          </p:cNvPicPr>
          <p:nvPr/>
        </p:nvPicPr>
        <p:blipFill>
          <a:blip r:embed="rId3"/>
          <a:stretch>
            <a:fillRect/>
          </a:stretch>
        </p:blipFill>
        <p:spPr>
          <a:xfrm>
            <a:off x="7424530" y="3756990"/>
            <a:ext cx="4095750" cy="2447925"/>
          </a:xfrm>
          <a:prstGeom prst="rect">
            <a:avLst/>
          </a:prstGeom>
        </p:spPr>
      </p:pic>
    </p:spTree>
    <p:extLst>
      <p:ext uri="{BB962C8B-B14F-4D97-AF65-F5344CB8AC3E}">
        <p14:creationId xmlns:p14="http://schemas.microsoft.com/office/powerpoint/2010/main" val="41289847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A568D4-B534-BEF4-2751-0E3F4587BF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FE2D7E-77C4-208F-38AB-0E866DB9974D}"/>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DHT11 Temperature Measurement:</a:t>
            </a:r>
          </a:p>
        </p:txBody>
      </p:sp>
      <p:sp>
        <p:nvSpPr>
          <p:cNvPr id="6" name="Content Placeholder 5">
            <a:extLst>
              <a:ext uri="{FF2B5EF4-FFF2-40B4-BE49-F238E27FC236}">
                <a16:creationId xmlns:a16="http://schemas.microsoft.com/office/drawing/2014/main" id="{B0A4A6FD-24DD-94BC-750B-D90E0A4B77BE}"/>
              </a:ext>
            </a:extLst>
          </p:cNvPr>
          <p:cNvSpPr>
            <a:spLocks noGrp="1"/>
          </p:cNvSpPr>
          <p:nvPr>
            <p:ph idx="1"/>
          </p:nvPr>
        </p:nvSpPr>
        <p:spPr/>
        <p:txBody>
          <a:bodyPr>
            <a:normAutofit/>
          </a:bodyPr>
          <a:lstStyle/>
          <a:p>
            <a:pPr lvl="0" algn="just"/>
            <a:r>
              <a:rPr lang="en-IN" dirty="0">
                <a:latin typeface="Times New Roman" panose="02020603050405020304" pitchFamily="18" charset="0"/>
                <a:cs typeface="Times New Roman" panose="02020603050405020304" pitchFamily="18" charset="0"/>
              </a:rPr>
              <a:t>For temperature sensing, it has an NTC(Negative Temperature Coefficient) temperature sensor (also called a thermistor ) mounted on the surface inside the plastic casing.</a:t>
            </a:r>
          </a:p>
          <a:p>
            <a:pPr lvl="0" algn="just"/>
            <a:r>
              <a:rPr lang="en-IN" dirty="0">
                <a:latin typeface="Times New Roman" panose="02020603050405020304" pitchFamily="18" charset="0"/>
                <a:cs typeface="Times New Roman" panose="02020603050405020304" pitchFamily="18" charset="0"/>
              </a:rPr>
              <a:t>NTC temperature sensors are variable resistive sensors and their resistance decreases with an increase in the surrounding temperature.</a:t>
            </a:r>
          </a:p>
          <a:p>
            <a:pPr lvl="0" algn="just"/>
            <a:r>
              <a:rPr lang="en-IN" dirty="0">
                <a:latin typeface="Times New Roman" panose="02020603050405020304" pitchFamily="18" charset="0"/>
                <a:cs typeface="Times New Roman" panose="02020603050405020304" pitchFamily="18" charset="0"/>
              </a:rPr>
              <a:t>Thermistors are designed with the sintering of semiconductor materials, such as ceramic or polymers and they provide a large change in resistor with a small temperature change.</a:t>
            </a:r>
          </a:p>
          <a:p>
            <a:pPr lvl="0" algn="just"/>
            <a:r>
              <a:rPr lang="en-IN" dirty="0">
                <a:latin typeface="Times New Roman" panose="02020603050405020304" pitchFamily="18" charset="0"/>
                <a:cs typeface="Times New Roman" panose="02020603050405020304" pitchFamily="18" charset="0"/>
              </a:rPr>
              <a:t>Here's the graph showing the relation between temperature and resistance for the DHT11 sensor:</a:t>
            </a:r>
          </a:p>
        </p:txBody>
      </p:sp>
    </p:spTree>
    <p:extLst>
      <p:ext uri="{BB962C8B-B14F-4D97-AF65-F5344CB8AC3E}">
        <p14:creationId xmlns:p14="http://schemas.microsoft.com/office/powerpoint/2010/main" val="22787269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51EB56-DE86-D830-5034-380E56D9AF57}"/>
            </a:ext>
          </a:extLst>
        </p:cNvPr>
        <p:cNvGrpSpPr/>
        <p:nvPr/>
      </p:nvGrpSpPr>
      <p:grpSpPr>
        <a:xfrm>
          <a:off x="0" y="0"/>
          <a:ext cx="0" cy="0"/>
          <a:chOff x="0" y="0"/>
          <a:chExt cx="0" cy="0"/>
        </a:xfrm>
      </p:grpSpPr>
      <p:pic>
        <p:nvPicPr>
          <p:cNvPr id="3" name="Picture 2" descr="Introduction to DHT11,DHT11 pinout, DHT11 Arduino, DHT11, DHT11 specifications, DHT11 applications">
            <a:extLst>
              <a:ext uri="{FF2B5EF4-FFF2-40B4-BE49-F238E27FC236}">
                <a16:creationId xmlns:a16="http://schemas.microsoft.com/office/drawing/2014/main" id="{3AF5EA51-F979-3601-2CD1-2173D5235A6F}"/>
              </a:ext>
            </a:extLst>
          </p:cNvPr>
          <p:cNvPicPr>
            <a:picLocks noChangeAspect="1"/>
          </p:cNvPicPr>
          <p:nvPr/>
        </p:nvPicPr>
        <p:blipFill>
          <a:blip r:embed="rId2"/>
          <a:stretch>
            <a:fillRect/>
          </a:stretch>
        </p:blipFill>
        <p:spPr>
          <a:xfrm>
            <a:off x="0" y="-19878"/>
            <a:ext cx="12192000" cy="6858000"/>
          </a:xfrm>
          <a:prstGeom prst="rect">
            <a:avLst/>
          </a:prstGeom>
        </p:spPr>
      </p:pic>
    </p:spTree>
    <p:extLst>
      <p:ext uri="{BB962C8B-B14F-4D97-AF65-F5344CB8AC3E}">
        <p14:creationId xmlns:p14="http://schemas.microsoft.com/office/powerpoint/2010/main" val="37016217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BD0448-8BEF-9727-17BF-B2029133A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E2BA6A-46B0-316B-68F7-1806AB188FA1}"/>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DHT11 Humidity Measurement:</a:t>
            </a:r>
          </a:p>
        </p:txBody>
      </p:sp>
      <p:sp>
        <p:nvSpPr>
          <p:cNvPr id="6" name="Content Placeholder 5">
            <a:extLst>
              <a:ext uri="{FF2B5EF4-FFF2-40B4-BE49-F238E27FC236}">
                <a16:creationId xmlns:a16="http://schemas.microsoft.com/office/drawing/2014/main" id="{620FFEA2-6AB0-953C-1D38-6FB09F0A6DEC}"/>
              </a:ext>
            </a:extLst>
          </p:cNvPr>
          <p:cNvSpPr>
            <a:spLocks noGrp="1"/>
          </p:cNvSpPr>
          <p:nvPr>
            <p:ph idx="1"/>
          </p:nvPr>
        </p:nvSpPr>
        <p:spPr/>
        <p:txBody>
          <a:bodyPr>
            <a:normAutofit fontScale="92500"/>
          </a:bodyPr>
          <a:lstStyle/>
          <a:p>
            <a:pPr lvl="0" algn="just"/>
            <a:r>
              <a:rPr lang="en-IN" dirty="0">
                <a:latin typeface="Times New Roman" panose="02020603050405020304" pitchFamily="18" charset="0"/>
                <a:cs typeface="Times New Roman" panose="02020603050405020304" pitchFamily="18" charset="0"/>
              </a:rPr>
              <a:t>For Humidity Measurement, it uses a capacitive humidity sensor, which has two electrodes and a substrate material in between.</a:t>
            </a:r>
          </a:p>
          <a:p>
            <a:pPr lvl="0" algn="just"/>
            <a:r>
              <a:rPr lang="en-IN" dirty="0">
                <a:latin typeface="Times New Roman" panose="02020603050405020304" pitchFamily="18" charset="0"/>
                <a:cs typeface="Times New Roman" panose="02020603050405020304" pitchFamily="18" charset="0"/>
              </a:rPr>
              <a:t>The substrate material is used for holding the moisture on its surface.</a:t>
            </a:r>
          </a:p>
          <a:p>
            <a:pPr lvl="0" algn="just"/>
            <a:r>
              <a:rPr lang="en-IN" dirty="0">
                <a:latin typeface="Times New Roman" panose="02020603050405020304" pitchFamily="18" charset="0"/>
                <a:cs typeface="Times New Roman" panose="02020603050405020304" pitchFamily="18" charset="0"/>
              </a:rPr>
              <a:t>As moisture content changes in our environment, they get saturated on the substrate material, which in turn changes the resistance between electrodes.</a:t>
            </a:r>
          </a:p>
          <a:p>
            <a:pPr lvl="0" algn="just"/>
            <a:r>
              <a:rPr lang="en-IN" dirty="0">
                <a:latin typeface="Times New Roman" panose="02020603050405020304" pitchFamily="18" charset="0"/>
                <a:cs typeface="Times New Roman" panose="02020603050405020304" pitchFamily="18" charset="0"/>
              </a:rPr>
              <a:t>This change in electrode resistivity is then calibrated using the humidity coefficient (saved in OTP memory) and the final relative humidity value is released.[2]</a:t>
            </a:r>
          </a:p>
          <a:p>
            <a:pPr lvl="0" algn="just"/>
            <a:r>
              <a:rPr lang="en-IN" dirty="0">
                <a:latin typeface="Times New Roman" panose="02020603050405020304" pitchFamily="18" charset="0"/>
                <a:cs typeface="Times New Roman" panose="02020603050405020304" pitchFamily="18" charset="0"/>
              </a:rPr>
              <a:t>Here's the image showing the internal structure of the DHT11 humidity sensor:</a:t>
            </a:r>
          </a:p>
        </p:txBody>
      </p:sp>
    </p:spTree>
    <p:extLst>
      <p:ext uri="{BB962C8B-B14F-4D97-AF65-F5344CB8AC3E}">
        <p14:creationId xmlns:p14="http://schemas.microsoft.com/office/powerpoint/2010/main" val="5209536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97F6C-5D91-A19A-8BFB-E9AC8A06D7B0}"/>
            </a:ext>
          </a:extLst>
        </p:cNvPr>
        <p:cNvGrpSpPr/>
        <p:nvPr/>
      </p:nvGrpSpPr>
      <p:grpSpPr>
        <a:xfrm>
          <a:off x="0" y="0"/>
          <a:ext cx="0" cy="0"/>
          <a:chOff x="0" y="0"/>
          <a:chExt cx="0" cy="0"/>
        </a:xfrm>
      </p:grpSpPr>
      <p:pic>
        <p:nvPicPr>
          <p:cNvPr id="2" name="Picture 1" descr="Introduction to DHT11,DHT11 pinout, DHT11 Arduino, DHT11, DHT11 specifications, DHT11 applications">
            <a:extLst>
              <a:ext uri="{FF2B5EF4-FFF2-40B4-BE49-F238E27FC236}">
                <a16:creationId xmlns:a16="http://schemas.microsoft.com/office/drawing/2014/main" id="{61F0AA66-D344-D072-CFBB-BB7E9163CA43}"/>
              </a:ext>
            </a:extLst>
          </p:cNvPr>
          <p:cNvPicPr>
            <a:picLocks noChangeAspect="1"/>
          </p:cNvPicPr>
          <p:nvPr/>
        </p:nvPicPr>
        <p:blipFill>
          <a:blip r:embed="rId2"/>
          <a:stretch>
            <a:fillRect/>
          </a:stretch>
        </p:blipFill>
        <p:spPr>
          <a:xfrm>
            <a:off x="0" y="0"/>
            <a:ext cx="12191999" cy="6858000"/>
          </a:xfrm>
          <a:prstGeom prst="rect">
            <a:avLst/>
          </a:prstGeom>
        </p:spPr>
      </p:pic>
    </p:spTree>
    <p:extLst>
      <p:ext uri="{BB962C8B-B14F-4D97-AF65-F5344CB8AC3E}">
        <p14:creationId xmlns:p14="http://schemas.microsoft.com/office/powerpoint/2010/main" val="33593002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9AC8AC-29B2-506A-D80F-9316B05F4C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E5883C-AF31-6ED0-0101-1BD5E33B6FE3}"/>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DHT11 Data Format:</a:t>
            </a:r>
          </a:p>
        </p:txBody>
      </p:sp>
      <p:sp>
        <p:nvSpPr>
          <p:cNvPr id="6" name="Content Placeholder 5">
            <a:extLst>
              <a:ext uri="{FF2B5EF4-FFF2-40B4-BE49-F238E27FC236}">
                <a16:creationId xmlns:a16="http://schemas.microsoft.com/office/drawing/2014/main" id="{FF90ECE8-629E-3551-E962-69CE00DC2119}"/>
              </a:ext>
            </a:extLst>
          </p:cNvPr>
          <p:cNvSpPr>
            <a:spLocks noGrp="1"/>
          </p:cNvSpPr>
          <p:nvPr>
            <p:ph idx="1"/>
          </p:nvPr>
        </p:nvSpPr>
        <p:spPr>
          <a:xfrm>
            <a:off x="838200" y="1451113"/>
            <a:ext cx="10515600" cy="4725850"/>
          </a:xfrm>
        </p:spPr>
        <p:txBody>
          <a:bodyPr>
            <a:normAutofit/>
          </a:bodyPr>
          <a:lstStyle/>
          <a:p>
            <a:pPr lvl="0" algn="just"/>
            <a:r>
              <a:rPr lang="en-IN" dirty="0"/>
              <a:t>The DHT11 uses a single-bus digital communication protocol to transmit temperature and relative humidity measurements to a microcontroller. The sensor sends a total of 40 bits, organized into five 8-bit bytes, with the most significant bit (MSB) transmitted first.[4]</a:t>
            </a:r>
            <a:endParaRPr lang="en-IN" dirty="0">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98EAAFAE-7E09-D9B4-7602-DCCEF82F6E75}"/>
              </a:ext>
            </a:extLst>
          </p:cNvPr>
          <p:cNvGraphicFramePr>
            <a:graphicFrameLocks noGrp="1"/>
          </p:cNvGraphicFramePr>
          <p:nvPr>
            <p:extLst>
              <p:ext uri="{D42A27DB-BD31-4B8C-83A1-F6EECF244321}">
                <p14:modId xmlns:p14="http://schemas.microsoft.com/office/powerpoint/2010/main" val="3653106238"/>
              </p:ext>
            </p:extLst>
          </p:nvPr>
        </p:nvGraphicFramePr>
        <p:xfrm>
          <a:off x="838200" y="3347298"/>
          <a:ext cx="10515600" cy="2468880"/>
        </p:xfrm>
        <a:graphic>
          <a:graphicData uri="http://schemas.openxmlformats.org/drawingml/2006/table">
            <a:tbl>
              <a:tblPr firstRow="1">
                <a:tableStyleId>{073A0DAA-6AF3-43AB-8588-CEC1D06C72B9}</a:tableStyleId>
              </a:tblPr>
              <a:tblGrid>
                <a:gridCol w="2471530">
                  <a:extLst>
                    <a:ext uri="{9D8B030D-6E8A-4147-A177-3AD203B41FA5}">
                      <a16:colId xmlns:a16="http://schemas.microsoft.com/office/drawing/2014/main" val="3528858738"/>
                    </a:ext>
                  </a:extLst>
                </a:gridCol>
                <a:gridCol w="2723322">
                  <a:extLst>
                    <a:ext uri="{9D8B030D-6E8A-4147-A177-3AD203B41FA5}">
                      <a16:colId xmlns:a16="http://schemas.microsoft.com/office/drawing/2014/main" val="2398326941"/>
                    </a:ext>
                  </a:extLst>
                </a:gridCol>
                <a:gridCol w="5320748">
                  <a:extLst>
                    <a:ext uri="{9D8B030D-6E8A-4147-A177-3AD203B41FA5}">
                      <a16:colId xmlns:a16="http://schemas.microsoft.com/office/drawing/2014/main" val="2444074606"/>
                    </a:ext>
                  </a:extLst>
                </a:gridCol>
              </a:tblGrid>
              <a:tr h="0">
                <a:tc>
                  <a:txBody>
                    <a:bodyPr/>
                    <a:lstStyle/>
                    <a:p>
                      <a:pPr algn="ctr">
                        <a:buNone/>
                      </a:pPr>
                      <a:r>
                        <a:rPr lang="en-IN" dirty="0">
                          <a:effectLst/>
                        </a:rPr>
                        <a:t>Byte</a:t>
                      </a:r>
                      <a:endParaRPr lang="en-IN" dirty="0">
                        <a:effectLst/>
                        <a:latin typeface="Times New Roman" panose="02020603050405020304" pitchFamily="18" charset="0"/>
                        <a:cs typeface="Times New Roman" panose="02020603050405020304" pitchFamily="18" charset="0"/>
                      </a:endParaRPr>
                    </a:p>
                  </a:txBody>
                  <a:tcPr anchor="ctr"/>
                </a:tc>
                <a:tc>
                  <a:txBody>
                    <a:bodyPr/>
                    <a:lstStyle/>
                    <a:p>
                      <a:pPr algn="ctr">
                        <a:buNone/>
                      </a:pPr>
                      <a:r>
                        <a:rPr lang="en-IN" dirty="0">
                          <a:effectLst/>
                        </a:rPr>
                        <a:t>Contents</a:t>
                      </a:r>
                      <a:endParaRPr lang="en-IN" dirty="0">
                        <a:effectLst/>
                        <a:latin typeface="Times New Roman" panose="02020603050405020304" pitchFamily="18" charset="0"/>
                        <a:cs typeface="Times New Roman" panose="02020603050405020304" pitchFamily="18" charset="0"/>
                      </a:endParaRPr>
                    </a:p>
                  </a:txBody>
                  <a:tcPr anchor="ctr"/>
                </a:tc>
                <a:tc>
                  <a:txBody>
                    <a:bodyPr/>
                    <a:lstStyle/>
                    <a:p>
                      <a:pPr algn="ctr">
                        <a:buNone/>
                      </a:pPr>
                      <a:r>
                        <a:rPr lang="en-IN">
                          <a:effectLst/>
                        </a:rPr>
                        <a:t>Description</a:t>
                      </a:r>
                      <a:endParaRPr lang="en-IN">
                        <a:effectLst/>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446226741"/>
                  </a:ext>
                </a:extLst>
              </a:tr>
              <a:tr h="0">
                <a:tc>
                  <a:txBody>
                    <a:bodyPr/>
                    <a:lstStyle/>
                    <a:p>
                      <a:pPr algn="ctr">
                        <a:buNone/>
                      </a:pPr>
                      <a:r>
                        <a:rPr lang="en-IN" dirty="0">
                          <a:effectLst/>
                        </a:rPr>
                        <a:t>Byte 1</a:t>
                      </a:r>
                      <a:endParaRPr lang="en-IN" dirty="0">
                        <a:effectLst/>
                        <a:latin typeface="Times New Roman" panose="02020603050405020304" pitchFamily="18" charset="0"/>
                        <a:cs typeface="Times New Roman" panose="02020603050405020304" pitchFamily="18" charset="0"/>
                      </a:endParaRPr>
                    </a:p>
                  </a:txBody>
                  <a:tcPr anchor="ctr"/>
                </a:tc>
                <a:tc>
                  <a:txBody>
                    <a:bodyPr/>
                    <a:lstStyle/>
                    <a:p>
                      <a:pPr algn="ctr">
                        <a:buNone/>
                      </a:pPr>
                      <a:r>
                        <a:rPr lang="en-IN" dirty="0">
                          <a:effectLst/>
                        </a:rPr>
                        <a:t>Integral humidity</a:t>
                      </a:r>
                      <a:endParaRPr lang="en-IN" dirty="0">
                        <a:effectLst/>
                        <a:latin typeface="Times New Roman" panose="02020603050405020304" pitchFamily="18" charset="0"/>
                        <a:cs typeface="Times New Roman" panose="02020603050405020304" pitchFamily="18" charset="0"/>
                      </a:endParaRPr>
                    </a:p>
                  </a:txBody>
                  <a:tcPr anchor="ctr"/>
                </a:tc>
                <a:tc>
                  <a:txBody>
                    <a:bodyPr/>
                    <a:lstStyle/>
                    <a:p>
                      <a:pPr algn="just">
                        <a:buNone/>
                      </a:pPr>
                      <a:r>
                        <a:rPr lang="en-IN">
                          <a:effectLst/>
                        </a:rPr>
                        <a:t>Whole-number relative humidity value (%)</a:t>
                      </a:r>
                      <a:endParaRPr lang="en-IN">
                        <a:effectLst/>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969980871"/>
                  </a:ext>
                </a:extLst>
              </a:tr>
              <a:tr h="0">
                <a:tc>
                  <a:txBody>
                    <a:bodyPr/>
                    <a:lstStyle/>
                    <a:p>
                      <a:pPr algn="ctr">
                        <a:buNone/>
                      </a:pPr>
                      <a:r>
                        <a:rPr lang="en-IN" dirty="0">
                          <a:effectLst/>
                        </a:rPr>
                        <a:t>Byte 2</a:t>
                      </a:r>
                      <a:endParaRPr lang="en-IN" dirty="0">
                        <a:effectLst/>
                        <a:latin typeface="Times New Roman" panose="02020603050405020304" pitchFamily="18" charset="0"/>
                        <a:cs typeface="Times New Roman" panose="02020603050405020304" pitchFamily="18" charset="0"/>
                      </a:endParaRPr>
                    </a:p>
                  </a:txBody>
                  <a:tcPr anchor="ctr"/>
                </a:tc>
                <a:tc>
                  <a:txBody>
                    <a:bodyPr/>
                    <a:lstStyle/>
                    <a:p>
                      <a:pPr algn="ctr">
                        <a:buNone/>
                      </a:pPr>
                      <a:r>
                        <a:rPr lang="en-IN" dirty="0">
                          <a:effectLst/>
                        </a:rPr>
                        <a:t>Decimal humidity</a:t>
                      </a:r>
                      <a:endParaRPr lang="en-IN" dirty="0">
                        <a:effectLst/>
                        <a:latin typeface="Times New Roman" panose="02020603050405020304" pitchFamily="18" charset="0"/>
                        <a:cs typeface="Times New Roman" panose="02020603050405020304" pitchFamily="18" charset="0"/>
                      </a:endParaRPr>
                    </a:p>
                  </a:txBody>
                  <a:tcPr anchor="ctr"/>
                </a:tc>
                <a:tc>
                  <a:txBody>
                    <a:bodyPr/>
                    <a:lstStyle/>
                    <a:p>
                      <a:pPr algn="just">
                        <a:buNone/>
                      </a:pPr>
                      <a:r>
                        <a:rPr lang="en-IN" dirty="0">
                          <a:effectLst/>
                        </a:rPr>
                        <a:t>Decimal part; normally 0 for DHT11</a:t>
                      </a:r>
                      <a:endParaRPr lang="en-IN" dirty="0">
                        <a:effectLst/>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715393056"/>
                  </a:ext>
                </a:extLst>
              </a:tr>
              <a:tr h="0">
                <a:tc>
                  <a:txBody>
                    <a:bodyPr/>
                    <a:lstStyle/>
                    <a:p>
                      <a:pPr algn="ctr">
                        <a:buNone/>
                      </a:pPr>
                      <a:r>
                        <a:rPr lang="en-IN">
                          <a:effectLst/>
                        </a:rPr>
                        <a:t>Byte 3</a:t>
                      </a:r>
                      <a:endParaRPr lang="en-IN">
                        <a:effectLst/>
                        <a:latin typeface="Times New Roman" panose="02020603050405020304" pitchFamily="18" charset="0"/>
                        <a:cs typeface="Times New Roman" panose="02020603050405020304" pitchFamily="18" charset="0"/>
                      </a:endParaRPr>
                    </a:p>
                  </a:txBody>
                  <a:tcPr anchor="ctr"/>
                </a:tc>
                <a:tc>
                  <a:txBody>
                    <a:bodyPr/>
                    <a:lstStyle/>
                    <a:p>
                      <a:pPr algn="ctr">
                        <a:buNone/>
                      </a:pPr>
                      <a:r>
                        <a:rPr lang="en-IN" dirty="0">
                          <a:effectLst/>
                        </a:rPr>
                        <a:t>Integral temperature</a:t>
                      </a:r>
                      <a:endParaRPr lang="en-IN" dirty="0">
                        <a:effectLst/>
                        <a:latin typeface="Times New Roman" panose="02020603050405020304" pitchFamily="18" charset="0"/>
                        <a:cs typeface="Times New Roman" panose="02020603050405020304" pitchFamily="18" charset="0"/>
                      </a:endParaRPr>
                    </a:p>
                  </a:txBody>
                  <a:tcPr anchor="ctr"/>
                </a:tc>
                <a:tc>
                  <a:txBody>
                    <a:bodyPr/>
                    <a:lstStyle/>
                    <a:p>
                      <a:pPr algn="just">
                        <a:buNone/>
                      </a:pPr>
                      <a:r>
                        <a:rPr lang="en-IN" dirty="0">
                          <a:effectLst/>
                        </a:rPr>
                        <a:t>Whole-number temperature value (°C)</a:t>
                      </a:r>
                      <a:endParaRPr lang="en-IN" dirty="0">
                        <a:effectLst/>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122141841"/>
                  </a:ext>
                </a:extLst>
              </a:tr>
              <a:tr h="0">
                <a:tc>
                  <a:txBody>
                    <a:bodyPr/>
                    <a:lstStyle/>
                    <a:p>
                      <a:pPr algn="ctr">
                        <a:buNone/>
                      </a:pPr>
                      <a:r>
                        <a:rPr lang="en-IN">
                          <a:effectLst/>
                        </a:rPr>
                        <a:t>Byte 4</a:t>
                      </a:r>
                      <a:endParaRPr lang="en-IN">
                        <a:effectLst/>
                        <a:latin typeface="Times New Roman" panose="02020603050405020304" pitchFamily="18" charset="0"/>
                        <a:cs typeface="Times New Roman" panose="02020603050405020304" pitchFamily="18" charset="0"/>
                      </a:endParaRPr>
                    </a:p>
                  </a:txBody>
                  <a:tcPr anchor="ctr"/>
                </a:tc>
                <a:tc>
                  <a:txBody>
                    <a:bodyPr/>
                    <a:lstStyle/>
                    <a:p>
                      <a:pPr algn="ctr">
                        <a:buNone/>
                      </a:pPr>
                      <a:r>
                        <a:rPr lang="en-IN">
                          <a:effectLst/>
                        </a:rPr>
                        <a:t>Decimal temperature</a:t>
                      </a:r>
                      <a:endParaRPr lang="en-IN">
                        <a:effectLst/>
                        <a:latin typeface="Times New Roman" panose="02020603050405020304" pitchFamily="18" charset="0"/>
                        <a:cs typeface="Times New Roman" panose="02020603050405020304" pitchFamily="18" charset="0"/>
                      </a:endParaRPr>
                    </a:p>
                  </a:txBody>
                  <a:tcPr anchor="ctr"/>
                </a:tc>
                <a:tc>
                  <a:txBody>
                    <a:bodyPr/>
                    <a:lstStyle/>
                    <a:p>
                      <a:pPr algn="just">
                        <a:buNone/>
                      </a:pPr>
                      <a:r>
                        <a:rPr lang="en-IN" dirty="0">
                          <a:effectLst/>
                        </a:rPr>
                        <a:t>Decimal part; normally 0 for DHT11</a:t>
                      </a:r>
                      <a:endParaRPr lang="en-IN" dirty="0">
                        <a:effectLst/>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861745776"/>
                  </a:ext>
                </a:extLst>
              </a:tr>
              <a:tr h="0">
                <a:tc>
                  <a:txBody>
                    <a:bodyPr/>
                    <a:lstStyle/>
                    <a:p>
                      <a:pPr algn="ctr">
                        <a:buNone/>
                      </a:pPr>
                      <a:r>
                        <a:rPr lang="en-IN">
                          <a:effectLst/>
                        </a:rPr>
                        <a:t>Byte 5</a:t>
                      </a:r>
                      <a:endParaRPr lang="en-IN">
                        <a:effectLst/>
                        <a:latin typeface="Times New Roman" panose="02020603050405020304" pitchFamily="18" charset="0"/>
                        <a:cs typeface="Times New Roman" panose="02020603050405020304" pitchFamily="18" charset="0"/>
                      </a:endParaRPr>
                    </a:p>
                  </a:txBody>
                  <a:tcPr anchor="ctr"/>
                </a:tc>
                <a:tc>
                  <a:txBody>
                    <a:bodyPr/>
                    <a:lstStyle/>
                    <a:p>
                      <a:pPr algn="ctr">
                        <a:buNone/>
                      </a:pPr>
                      <a:r>
                        <a:rPr lang="en-IN">
                          <a:effectLst/>
                        </a:rPr>
                        <a:t>Checksum</a:t>
                      </a:r>
                      <a:endParaRPr lang="en-IN">
                        <a:effectLst/>
                        <a:latin typeface="Times New Roman" panose="02020603050405020304" pitchFamily="18" charset="0"/>
                        <a:cs typeface="Times New Roman" panose="02020603050405020304" pitchFamily="18" charset="0"/>
                      </a:endParaRPr>
                    </a:p>
                  </a:txBody>
                  <a:tcPr anchor="ctr"/>
                </a:tc>
                <a:tc>
                  <a:txBody>
                    <a:bodyPr/>
                    <a:lstStyle/>
                    <a:p>
                      <a:pPr algn="just">
                        <a:buNone/>
                      </a:pPr>
                      <a:r>
                        <a:rPr lang="en-IN" dirty="0">
                          <a:effectLst/>
                        </a:rPr>
                        <a:t>Used to verify the received data </a:t>
                      </a:r>
                    </a:p>
                    <a:p>
                      <a:pPr algn="just">
                        <a:buNone/>
                      </a:pPr>
                      <a:r>
                        <a:rPr lang="en-IN" dirty="0">
                          <a:effectLst/>
                        </a:rPr>
                        <a:t>(Byte 1 + Byte 2 + Byte 3 + Byte 4)</a:t>
                      </a:r>
                      <a:endParaRPr lang="en-IN" dirty="0">
                        <a:effectLst/>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904118279"/>
                  </a:ext>
                </a:extLst>
              </a:tr>
            </a:tbl>
          </a:graphicData>
        </a:graphic>
      </p:graphicFrame>
    </p:spTree>
    <p:extLst>
      <p:ext uri="{BB962C8B-B14F-4D97-AF65-F5344CB8AC3E}">
        <p14:creationId xmlns:p14="http://schemas.microsoft.com/office/powerpoint/2010/main" val="33584607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C6E488-2E01-2A6D-32D5-C47F5E095873}"/>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405FBCFD-17C9-18F6-2CD1-49D6DFDED04F}"/>
              </a:ext>
            </a:extLst>
          </p:cNvPr>
          <p:cNvSpPr txBox="1"/>
          <p:nvPr/>
        </p:nvSpPr>
        <p:spPr>
          <a:xfrm>
            <a:off x="0" y="6308209"/>
            <a:ext cx="12192000" cy="369332"/>
          </a:xfrm>
          <a:prstGeom prst="rect">
            <a:avLst/>
          </a:prstGeom>
          <a:noFill/>
          <a:ln>
            <a:solidFill>
              <a:schemeClr val="bg1"/>
            </a:solidFill>
          </a:ln>
        </p:spPr>
        <p:txBody>
          <a:bodyPr wrap="square" rtlCol="0">
            <a:spAutoFit/>
          </a:bodyPr>
          <a:lstStyle/>
          <a:p>
            <a:pPr algn="ctr"/>
            <a:r>
              <a:rPr lang="en-IN" dirty="0">
                <a:solidFill>
                  <a:schemeClr val="tx1">
                    <a:alpha val="39000"/>
                  </a:schemeClr>
                </a:solidFill>
              </a:rPr>
              <a:t>Ref: http://electronicsgate.com/tutorials/dht22.html &amp; https://iotbyhvm.ooo/dht11-vs-dht22-overview/</a:t>
            </a:r>
          </a:p>
        </p:txBody>
      </p:sp>
      <p:sp>
        <p:nvSpPr>
          <p:cNvPr id="2" name="Title 1">
            <a:extLst>
              <a:ext uri="{FF2B5EF4-FFF2-40B4-BE49-F238E27FC236}">
                <a16:creationId xmlns:a16="http://schemas.microsoft.com/office/drawing/2014/main" id="{2EEE073E-DFB9-4E1B-3546-68AF3B8DAE19}"/>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DHT11 Data Format:</a:t>
            </a:r>
          </a:p>
        </p:txBody>
      </p:sp>
      <p:pic>
        <p:nvPicPr>
          <p:cNvPr id="4" name="Content Placeholder 3">
            <a:extLst>
              <a:ext uri="{FF2B5EF4-FFF2-40B4-BE49-F238E27FC236}">
                <a16:creationId xmlns:a16="http://schemas.microsoft.com/office/drawing/2014/main" id="{AE6813F9-E2E4-40FB-61F1-46EA782DE37C}"/>
              </a:ext>
            </a:extLst>
          </p:cNvPr>
          <p:cNvPicPr>
            <a:picLocks noGrp="1" noChangeAspect="1"/>
          </p:cNvPicPr>
          <p:nvPr>
            <p:ph idx="1"/>
          </p:nvPr>
        </p:nvPicPr>
        <p:blipFill>
          <a:blip r:embed="rId2"/>
          <a:srcRect t="22560" b="4023"/>
          <a:stretch>
            <a:fillRect/>
          </a:stretch>
        </p:blipFill>
        <p:spPr>
          <a:xfrm>
            <a:off x="838201" y="1451114"/>
            <a:ext cx="10233990" cy="2146852"/>
          </a:xfrm>
          <a:prstGeom prst="rect">
            <a:avLst/>
          </a:prstGeom>
        </p:spPr>
      </p:pic>
      <p:pic>
        <p:nvPicPr>
          <p:cNvPr id="7" name="Picture 6">
            <a:extLst>
              <a:ext uri="{FF2B5EF4-FFF2-40B4-BE49-F238E27FC236}">
                <a16:creationId xmlns:a16="http://schemas.microsoft.com/office/drawing/2014/main" id="{CCA58B79-C1CF-0C04-A080-00149029D106}"/>
              </a:ext>
            </a:extLst>
          </p:cNvPr>
          <p:cNvPicPr>
            <a:picLocks noChangeAspect="1"/>
          </p:cNvPicPr>
          <p:nvPr/>
        </p:nvPicPr>
        <p:blipFill>
          <a:blip r:embed="rId3"/>
          <a:stretch>
            <a:fillRect/>
          </a:stretch>
        </p:blipFill>
        <p:spPr>
          <a:xfrm>
            <a:off x="2281237" y="3597966"/>
            <a:ext cx="7629525" cy="2371725"/>
          </a:xfrm>
          <a:prstGeom prst="rect">
            <a:avLst/>
          </a:prstGeom>
        </p:spPr>
      </p:pic>
    </p:spTree>
    <p:extLst>
      <p:ext uri="{BB962C8B-B14F-4D97-AF65-F5344CB8AC3E}">
        <p14:creationId xmlns:p14="http://schemas.microsoft.com/office/powerpoint/2010/main" val="13503003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E7F905-325B-8F90-E7C3-CEB9A29B52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9B787E-14DE-13FD-F366-EADA637FEF0B}"/>
              </a:ext>
            </a:extLst>
          </p:cNvPr>
          <p:cNvSpPr>
            <a:spLocks noGrp="1"/>
          </p:cNvSpPr>
          <p:nvPr>
            <p:ph type="title"/>
          </p:nvPr>
        </p:nvSpPr>
        <p:spPr/>
        <p:txBody>
          <a:bodyPr/>
          <a:lstStyle/>
          <a:p>
            <a:r>
              <a:rPr lang="en-IN" b="1" dirty="0"/>
              <a:t>How does the checksum work?</a:t>
            </a:r>
          </a:p>
        </p:txBody>
      </p:sp>
      <p:sp>
        <p:nvSpPr>
          <p:cNvPr id="6" name="Content Placeholder 5">
            <a:extLst>
              <a:ext uri="{FF2B5EF4-FFF2-40B4-BE49-F238E27FC236}">
                <a16:creationId xmlns:a16="http://schemas.microsoft.com/office/drawing/2014/main" id="{4D1AEB01-58AC-8162-CCA4-816AF14E3AC5}"/>
              </a:ext>
            </a:extLst>
          </p:cNvPr>
          <p:cNvSpPr>
            <a:spLocks noGrp="1"/>
          </p:cNvSpPr>
          <p:nvPr>
            <p:ph idx="1"/>
          </p:nvPr>
        </p:nvSpPr>
        <p:spPr>
          <a:xfrm>
            <a:off x="838200" y="1632089"/>
            <a:ext cx="10515600" cy="4351338"/>
          </a:xfrm>
        </p:spPr>
        <p:txBody>
          <a:bodyPr>
            <a:normAutofit lnSpcReduction="10000"/>
          </a:bodyPr>
          <a:lstStyle/>
          <a:p>
            <a:pPr algn="just"/>
            <a:r>
              <a:rPr lang="en-IN" dirty="0">
                <a:latin typeface="Times New Roman" panose="02020603050405020304" pitchFamily="18" charset="0"/>
                <a:cs typeface="Times New Roman" panose="02020603050405020304" pitchFamily="18" charset="0"/>
              </a:rPr>
              <a:t>The checksum is calculated by adding the first four bytes and retaining the lower 8 bits of the sum.</a:t>
            </a:r>
          </a:p>
          <a:p>
            <a:pPr algn="just"/>
            <a:r>
              <a:rPr lang="en-IN" dirty="0">
                <a:latin typeface="Times New Roman" panose="02020603050405020304" pitchFamily="18" charset="0"/>
                <a:cs typeface="Times New Roman" panose="02020603050405020304" pitchFamily="18" charset="0"/>
              </a:rPr>
              <a:t>Checksum=(B1+B2+B3+B4)</a:t>
            </a:r>
          </a:p>
          <a:p>
            <a:pPr marL="457200" lvl="1" indent="0" algn="just">
              <a:buNone/>
            </a:pPr>
            <a:r>
              <a:rPr lang="en-IN" dirty="0">
                <a:latin typeface="Times New Roman" panose="02020603050405020304" pitchFamily="18" charset="0"/>
                <a:cs typeface="Times New Roman" panose="02020603050405020304" pitchFamily="18" charset="0"/>
              </a:rPr>
              <a:t>Example: Suppose the sensor transmits:</a:t>
            </a:r>
          </a:p>
          <a:p>
            <a:pPr marL="457200" lvl="1" indent="0" algn="just">
              <a:buNone/>
            </a:pPr>
            <a:r>
              <a:rPr lang="en-IN" dirty="0">
                <a:latin typeface="Times New Roman" panose="02020603050405020304" pitchFamily="18" charset="0"/>
                <a:cs typeface="Times New Roman" panose="02020603050405020304" pitchFamily="18" charset="0"/>
              </a:rPr>
              <a:t>Byte 1 = 55 (humidity: 55%)</a:t>
            </a:r>
          </a:p>
          <a:p>
            <a:pPr marL="457200" lvl="1" indent="0" algn="just">
              <a:buNone/>
            </a:pPr>
            <a:r>
              <a:rPr lang="en-IN" dirty="0">
                <a:latin typeface="Times New Roman" panose="02020603050405020304" pitchFamily="18" charset="0"/>
                <a:cs typeface="Times New Roman" panose="02020603050405020304" pitchFamily="18" charset="0"/>
              </a:rPr>
              <a:t>Byte 2 = 0</a:t>
            </a:r>
          </a:p>
          <a:p>
            <a:pPr marL="457200" lvl="1" indent="0" algn="just">
              <a:buNone/>
            </a:pPr>
            <a:r>
              <a:rPr lang="en-IN" dirty="0">
                <a:latin typeface="Times New Roman" panose="02020603050405020304" pitchFamily="18" charset="0"/>
                <a:cs typeface="Times New Roman" panose="02020603050405020304" pitchFamily="18" charset="0"/>
              </a:rPr>
              <a:t>Byte 3 = 28 (temperature: 28°C)</a:t>
            </a:r>
          </a:p>
          <a:p>
            <a:pPr marL="457200" lvl="1" indent="0" algn="just">
              <a:buNone/>
            </a:pPr>
            <a:r>
              <a:rPr lang="en-IN" dirty="0">
                <a:latin typeface="Times New Roman" panose="02020603050405020304" pitchFamily="18" charset="0"/>
                <a:cs typeface="Times New Roman" panose="02020603050405020304" pitchFamily="18" charset="0"/>
              </a:rPr>
              <a:t>Byte 4 = 0</a:t>
            </a:r>
          </a:p>
          <a:p>
            <a:pPr marL="457200" lvl="1" indent="0" algn="just">
              <a:buNone/>
            </a:pPr>
            <a:r>
              <a:rPr lang="en-IN" dirty="0">
                <a:latin typeface="Times New Roman" panose="02020603050405020304" pitchFamily="18" charset="0"/>
                <a:cs typeface="Times New Roman" panose="02020603050405020304" pitchFamily="18" charset="0"/>
              </a:rPr>
              <a:t>Byte 5 = 83 (checksum)</a:t>
            </a:r>
          </a:p>
          <a:p>
            <a:pPr algn="just"/>
            <a:r>
              <a:rPr lang="en-IN" dirty="0">
                <a:latin typeface="Times New Roman" panose="02020603050405020304" pitchFamily="18" charset="0"/>
                <a:cs typeface="Times New Roman" panose="02020603050405020304" pitchFamily="18" charset="0"/>
              </a:rPr>
              <a:t>The receiver calculates (55+0+28+0=83) and compares the result with Byte 5. If they match, the data passes the checksum verification.[4]</a:t>
            </a: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738977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B6AE08-3891-1FC8-24B8-A0A39ED88B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CE943C-0480-E4A6-14B4-72D397CCA5D8}"/>
              </a:ext>
            </a:extLst>
          </p:cNvPr>
          <p:cNvSpPr>
            <a:spLocks noGrp="1"/>
          </p:cNvSpPr>
          <p:nvPr>
            <p:ph type="title"/>
          </p:nvPr>
        </p:nvSpPr>
        <p:spPr/>
        <p:txBody>
          <a:bodyPr>
            <a:normAutofit/>
          </a:bodyPr>
          <a:lstStyle/>
          <a:p>
            <a:r>
              <a:rPr lang="en-US" b="1" dirty="0"/>
              <a:t>Communication Process: Serial Interface (Single-Wire Two-Way)</a:t>
            </a:r>
            <a:endParaRPr lang="en-IN" b="1" dirty="0"/>
          </a:p>
        </p:txBody>
      </p:sp>
      <p:sp>
        <p:nvSpPr>
          <p:cNvPr id="6" name="Content Placeholder 5">
            <a:extLst>
              <a:ext uri="{FF2B5EF4-FFF2-40B4-BE49-F238E27FC236}">
                <a16:creationId xmlns:a16="http://schemas.microsoft.com/office/drawing/2014/main" id="{6C7D3B4D-E665-F4A9-6AA1-5D0E960769C2}"/>
              </a:ext>
            </a:extLst>
          </p:cNvPr>
          <p:cNvSpPr>
            <a:spLocks noGrp="1"/>
          </p:cNvSpPr>
          <p:nvPr>
            <p:ph idx="1"/>
          </p:nvPr>
        </p:nvSpPr>
        <p:spPr>
          <a:xfrm>
            <a:off x="838200" y="1748519"/>
            <a:ext cx="10515600" cy="4351338"/>
          </a:xfrm>
        </p:spPr>
        <p:txBody>
          <a:bodyPr>
            <a:normAutofit fontScale="92500" lnSpcReduction="20000"/>
          </a:bodyPr>
          <a:lstStyle/>
          <a:p>
            <a:pPr algn="just"/>
            <a:r>
              <a:rPr lang="en-US" dirty="0">
                <a:latin typeface="Times New Roman" panose="02020603050405020304" pitchFamily="18" charset="0"/>
                <a:cs typeface="Times New Roman" panose="02020603050405020304" pitchFamily="18" charset="0"/>
              </a:rPr>
              <a:t>Single-bus data format is used for communication and synchronization between MCU and DHT11 sensor. One communication process is about 4ms.</a:t>
            </a:r>
          </a:p>
          <a:p>
            <a:pPr algn="just"/>
            <a:r>
              <a:rPr lang="en-IN" dirty="0">
                <a:latin typeface="Times New Roman" panose="02020603050405020304" pitchFamily="18" charset="0"/>
                <a:cs typeface="Times New Roman" panose="02020603050405020304" pitchFamily="18" charset="0"/>
              </a:rPr>
              <a:t>When MCU sends a start signal, DHT11 changes from the low-power-consumption mode to the running-mode, waiting for MCU completing the start signal. Once it is completed, DHT11 sends a response signal of 40-bit data that include the relative humidity and temperature information to MCU. Users can choose to collect (read) some data. Without the start signal from MCU, DHT11 will not give the response signal to MCU. Once data is collected, DHT11 will change to the low power-consumption mode until it receives a start signal from MCU again.[3]</a:t>
            </a:r>
          </a:p>
          <a:p>
            <a:pPr algn="just"/>
            <a:r>
              <a:rPr lang="en-IN" dirty="0">
                <a:latin typeface="Times New Roman" panose="02020603050405020304" pitchFamily="18" charset="0"/>
                <a:cs typeface="Times New Roman" panose="02020603050405020304" pitchFamily="18" charset="0"/>
              </a:rPr>
              <a:t>Before sending each bit the DHT will pull </a:t>
            </a:r>
            <a:r>
              <a:rPr lang="en-IN" dirty="0" err="1">
                <a:latin typeface="Times New Roman" panose="02020603050405020304" pitchFamily="18" charset="0"/>
                <a:cs typeface="Times New Roman" panose="02020603050405020304" pitchFamily="18" charset="0"/>
              </a:rPr>
              <a:t>tle</a:t>
            </a:r>
            <a:r>
              <a:rPr lang="en-IN" dirty="0">
                <a:latin typeface="Times New Roman" panose="02020603050405020304" pitchFamily="18" charset="0"/>
                <a:cs typeface="Times New Roman" panose="02020603050405020304" pitchFamily="18" charset="0"/>
              </a:rPr>
              <a:t> line down for 50ms and then make it high based on which bit needs to be sent.</a:t>
            </a:r>
          </a:p>
        </p:txBody>
      </p:sp>
    </p:spTree>
    <p:extLst>
      <p:ext uri="{BB962C8B-B14F-4D97-AF65-F5344CB8AC3E}">
        <p14:creationId xmlns:p14="http://schemas.microsoft.com/office/powerpoint/2010/main" val="13030027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937D88-CEE8-4927-BEE2-BA7AEC163F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A2AFFD-9879-FAC0-5042-86465E8BEABB}"/>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 MCU Start Signal to DHT11:</a:t>
            </a:r>
          </a:p>
        </p:txBody>
      </p:sp>
      <p:sp>
        <p:nvSpPr>
          <p:cNvPr id="6" name="Content Placeholder 5">
            <a:extLst>
              <a:ext uri="{FF2B5EF4-FFF2-40B4-BE49-F238E27FC236}">
                <a16:creationId xmlns:a16="http://schemas.microsoft.com/office/drawing/2014/main" id="{CA2294C9-8F51-6550-8A2D-887DBFD85096}"/>
              </a:ext>
            </a:extLst>
          </p:cNvPr>
          <p:cNvSpPr>
            <a:spLocks noGrp="1"/>
          </p:cNvSpPr>
          <p:nvPr>
            <p:ph idx="1"/>
          </p:nvPr>
        </p:nvSpPr>
        <p:spPr>
          <a:xfrm>
            <a:off x="838200" y="1632089"/>
            <a:ext cx="10515600" cy="4351338"/>
          </a:xfrm>
        </p:spPr>
        <p:txBody>
          <a:bodyPr>
            <a:normAutofit/>
          </a:bodyPr>
          <a:lstStyle/>
          <a:p>
            <a:pPr algn="just"/>
            <a:r>
              <a:rPr lang="en-IN" dirty="0"/>
              <a:t>MCU will set Data Single-bus voltage level from high to low and this process must take at least 18ms to ensure DHT’s detection of MCU's signal, then MCU will pull up voltage and wait 20-40us for DHT’s response. </a:t>
            </a:r>
          </a:p>
          <a:p>
            <a:pPr algn="just"/>
            <a:endParaRPr lang="en-IN"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895C4241-ECA9-80DC-65ED-E74E94AD4076}"/>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8800"/>
                    </a14:imgEffect>
                  </a14:imgLayer>
                </a14:imgProps>
              </a:ext>
            </a:extLst>
          </a:blip>
          <a:stretch>
            <a:fillRect/>
          </a:stretch>
        </p:blipFill>
        <p:spPr>
          <a:xfrm>
            <a:off x="1073426" y="3335154"/>
            <a:ext cx="10280373" cy="3157721"/>
          </a:xfrm>
          <a:prstGeom prst="rect">
            <a:avLst/>
          </a:prstGeom>
        </p:spPr>
      </p:pic>
    </p:spTree>
    <p:extLst>
      <p:ext uri="{BB962C8B-B14F-4D97-AF65-F5344CB8AC3E}">
        <p14:creationId xmlns:p14="http://schemas.microsoft.com/office/powerpoint/2010/main" val="31526403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E75A1E-7CB9-E54D-7918-1CAF5D6DD9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8C4652-A15C-2396-89A6-321A57C8CC3E}"/>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DHT Responses to MCU:</a:t>
            </a:r>
          </a:p>
        </p:txBody>
      </p:sp>
      <p:sp>
        <p:nvSpPr>
          <p:cNvPr id="6" name="Content Placeholder 5">
            <a:extLst>
              <a:ext uri="{FF2B5EF4-FFF2-40B4-BE49-F238E27FC236}">
                <a16:creationId xmlns:a16="http://schemas.microsoft.com/office/drawing/2014/main" id="{CF3C5185-3570-1B8B-84B4-1019F784D618}"/>
              </a:ext>
            </a:extLst>
          </p:cNvPr>
          <p:cNvSpPr>
            <a:spLocks noGrp="1"/>
          </p:cNvSpPr>
          <p:nvPr>
            <p:ph idx="1"/>
          </p:nvPr>
        </p:nvSpPr>
        <p:spPr>
          <a:xfrm>
            <a:off x="838200" y="1632089"/>
            <a:ext cx="10515600" cy="4351338"/>
          </a:xfrm>
        </p:spPr>
        <p:txBody>
          <a:bodyPr>
            <a:normAutofit fontScale="85000" lnSpcReduction="20000"/>
          </a:bodyPr>
          <a:lstStyle/>
          <a:p>
            <a:pPr algn="just"/>
            <a:r>
              <a:rPr lang="en-US" dirty="0">
                <a:latin typeface="Times New Roman" panose="02020603050405020304" pitchFamily="18" charset="0"/>
                <a:cs typeface="Times New Roman" panose="02020603050405020304" pitchFamily="18" charset="0"/>
              </a:rPr>
              <a:t>Once DHT detects the start signal, it will send out a low-voltage-level response signal, which lasts 80us. Then the </a:t>
            </a:r>
            <a:r>
              <a:rPr lang="en-US" dirty="0" err="1">
                <a:latin typeface="Times New Roman" panose="02020603050405020304" pitchFamily="18" charset="0"/>
                <a:cs typeface="Times New Roman" panose="02020603050405020304" pitchFamily="18" charset="0"/>
              </a:rPr>
              <a:t>programme</a:t>
            </a:r>
            <a:r>
              <a:rPr lang="en-US" dirty="0">
                <a:latin typeface="Times New Roman" panose="02020603050405020304" pitchFamily="18" charset="0"/>
                <a:cs typeface="Times New Roman" panose="02020603050405020304" pitchFamily="18" charset="0"/>
              </a:rPr>
              <a:t> of DHT sets Data Single-bus voltage level from low to high and keeps it for 80us for DHT’s preparation for sending data[3]</a:t>
            </a:r>
          </a:p>
          <a:p>
            <a:pPr algn="just"/>
            <a:r>
              <a:rPr lang="en-US" dirty="0">
                <a:latin typeface="Times New Roman" panose="02020603050405020304" pitchFamily="18" charset="0"/>
                <a:cs typeface="Times New Roman" panose="02020603050405020304" pitchFamily="18" charset="0"/>
              </a:rPr>
              <a:t>When DATA Single-Bus is at the low voltage level, this means that DHT is sending the response signal. Once DHT sent out the response signal, it pulls up voltage and keeps it for 80us and prepares for data transmission.</a:t>
            </a:r>
          </a:p>
          <a:p>
            <a:pPr algn="just"/>
            <a:r>
              <a:rPr lang="en-US" dirty="0">
                <a:latin typeface="Times New Roman" panose="02020603050405020304" pitchFamily="18" charset="0"/>
                <a:cs typeface="Times New Roman" panose="02020603050405020304" pitchFamily="18" charset="0"/>
              </a:rPr>
              <a:t>When DHT is sending data to MCU, every bit of data begins with the 50us low-voltage-level and the length of the following high-voltage-level signal determines whether data bit is "0" or "1“.[3]</a:t>
            </a:r>
          </a:p>
          <a:p>
            <a:pPr algn="just"/>
            <a:r>
              <a:rPr lang="en-US" dirty="0">
                <a:latin typeface="Times New Roman" panose="02020603050405020304" pitchFamily="18" charset="0"/>
                <a:cs typeface="Times New Roman" panose="02020603050405020304" pitchFamily="18" charset="0"/>
              </a:rPr>
              <a:t>If the response signal from DHT is always at high-voltage-level, it suggests that DHT is not responding properly and please check the connection. When the last bit data is transmitted, DHT11 pulls down the voltage level and keeps it for 50us. Then the Single-Bus voltage will be pulled up by the resistor to set it back to the free status.[3]</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90622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3705F-67F3-5168-6C1F-162DDEE3F8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DBB7FF-558C-7464-D4F5-98F078EE7CB7}"/>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DATA ‘0’ INDICATION:</a:t>
            </a:r>
          </a:p>
        </p:txBody>
      </p:sp>
      <p:sp>
        <p:nvSpPr>
          <p:cNvPr id="6" name="Content Placeholder 5">
            <a:extLst>
              <a:ext uri="{FF2B5EF4-FFF2-40B4-BE49-F238E27FC236}">
                <a16:creationId xmlns:a16="http://schemas.microsoft.com/office/drawing/2014/main" id="{56BAF619-53B4-E394-7EA5-55B486560090}"/>
              </a:ext>
            </a:extLst>
          </p:cNvPr>
          <p:cNvSpPr>
            <a:spLocks noGrp="1"/>
          </p:cNvSpPr>
          <p:nvPr>
            <p:ph idx="1"/>
          </p:nvPr>
        </p:nvSpPr>
        <p:spPr>
          <a:xfrm>
            <a:off x="838200" y="1632089"/>
            <a:ext cx="10515600" cy="4351338"/>
          </a:xfrm>
        </p:spPr>
        <p:txBody>
          <a:bodyPr>
            <a:normAutofit/>
          </a:bodyPr>
          <a:lstStyle/>
          <a:p>
            <a:pPr algn="just"/>
            <a:r>
              <a:rPr lang="en-IN" dirty="0">
                <a:latin typeface="Times New Roman" panose="02020603050405020304" pitchFamily="18" charset="0"/>
                <a:cs typeface="Times New Roman" panose="02020603050405020304" pitchFamily="18" charset="0"/>
              </a:rPr>
              <a:t>The bit ‘0’  is detected by the MCU if the DHT sends low signal for 50us and high for 26-28ms as shown in the below figure.[3]</a:t>
            </a:r>
          </a:p>
        </p:txBody>
      </p:sp>
      <p:pic>
        <p:nvPicPr>
          <p:cNvPr id="11" name="Picture 10">
            <a:extLst>
              <a:ext uri="{FF2B5EF4-FFF2-40B4-BE49-F238E27FC236}">
                <a16:creationId xmlns:a16="http://schemas.microsoft.com/office/drawing/2014/main" id="{08CC3C1C-AF26-FEAA-B17F-9B579982AEB1}"/>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7200"/>
                    </a14:imgEffect>
                    <a14:imgEffect>
                      <a14:saturation sat="66000"/>
                    </a14:imgEffect>
                  </a14:imgLayer>
                </a14:imgProps>
              </a:ext>
            </a:extLst>
          </a:blip>
          <a:stretch>
            <a:fillRect/>
          </a:stretch>
        </p:blipFill>
        <p:spPr>
          <a:xfrm>
            <a:off x="2284343" y="2649539"/>
            <a:ext cx="7623313" cy="3661350"/>
          </a:xfrm>
          <a:prstGeom prst="rect">
            <a:avLst/>
          </a:prstGeom>
        </p:spPr>
      </p:pic>
    </p:spTree>
    <p:extLst>
      <p:ext uri="{BB962C8B-B14F-4D97-AF65-F5344CB8AC3E}">
        <p14:creationId xmlns:p14="http://schemas.microsoft.com/office/powerpoint/2010/main" val="9378456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59030-E841-E96C-3EB6-B2365EDC0C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7174E3-5918-7EF5-0A80-83B8BDDDFF6E}"/>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DATA ‘1’ INDICATION:</a:t>
            </a:r>
          </a:p>
        </p:txBody>
      </p:sp>
      <p:sp>
        <p:nvSpPr>
          <p:cNvPr id="6" name="Content Placeholder 5">
            <a:extLst>
              <a:ext uri="{FF2B5EF4-FFF2-40B4-BE49-F238E27FC236}">
                <a16:creationId xmlns:a16="http://schemas.microsoft.com/office/drawing/2014/main" id="{6C990978-9BBF-2AAD-88E7-83C17C295AF7}"/>
              </a:ext>
            </a:extLst>
          </p:cNvPr>
          <p:cNvSpPr>
            <a:spLocks noGrp="1"/>
          </p:cNvSpPr>
          <p:nvPr>
            <p:ph idx="1"/>
          </p:nvPr>
        </p:nvSpPr>
        <p:spPr>
          <a:xfrm>
            <a:off x="838200" y="1632089"/>
            <a:ext cx="10515600" cy="4351338"/>
          </a:xfrm>
        </p:spPr>
        <p:txBody>
          <a:bodyPr>
            <a:normAutofit/>
          </a:bodyPr>
          <a:lstStyle/>
          <a:p>
            <a:pPr algn="just"/>
            <a:r>
              <a:rPr lang="en-IN" dirty="0">
                <a:latin typeface="Times New Roman" panose="02020603050405020304" pitchFamily="18" charset="0"/>
                <a:cs typeface="Times New Roman" panose="02020603050405020304" pitchFamily="18" charset="0"/>
              </a:rPr>
              <a:t>The bit ‘1’  is detected by the MCU if the DHT sends low signal for 50us and high for 70us as shown in the below figure.[3]</a:t>
            </a:r>
          </a:p>
        </p:txBody>
      </p:sp>
      <p:pic>
        <p:nvPicPr>
          <p:cNvPr id="4" name="Picture 3">
            <a:extLst>
              <a:ext uri="{FF2B5EF4-FFF2-40B4-BE49-F238E27FC236}">
                <a16:creationId xmlns:a16="http://schemas.microsoft.com/office/drawing/2014/main" id="{18A4108F-96FA-6367-6F67-9465BC768D5C}"/>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7200"/>
                    </a14:imgEffect>
                  </a14:imgLayer>
                </a14:imgProps>
              </a:ext>
            </a:extLst>
          </a:blip>
          <a:stretch>
            <a:fillRect/>
          </a:stretch>
        </p:blipFill>
        <p:spPr>
          <a:xfrm>
            <a:off x="1958009" y="2873781"/>
            <a:ext cx="8229600" cy="3619093"/>
          </a:xfrm>
          <a:prstGeom prst="rect">
            <a:avLst/>
          </a:prstGeom>
        </p:spPr>
      </p:pic>
    </p:spTree>
    <p:extLst>
      <p:ext uri="{BB962C8B-B14F-4D97-AF65-F5344CB8AC3E}">
        <p14:creationId xmlns:p14="http://schemas.microsoft.com/office/powerpoint/2010/main" val="22072603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5DF18-149D-F7BC-5BB5-E0659F1030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FA7747-19D6-9314-FE21-9B2A2517A131}"/>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End of the frame:</a:t>
            </a:r>
          </a:p>
        </p:txBody>
      </p:sp>
      <p:sp>
        <p:nvSpPr>
          <p:cNvPr id="6" name="Content Placeholder 5">
            <a:extLst>
              <a:ext uri="{FF2B5EF4-FFF2-40B4-BE49-F238E27FC236}">
                <a16:creationId xmlns:a16="http://schemas.microsoft.com/office/drawing/2014/main" id="{FEC096AA-DA7D-547D-37C8-6AD38B46964F}"/>
              </a:ext>
            </a:extLst>
          </p:cNvPr>
          <p:cNvSpPr>
            <a:spLocks noGrp="1"/>
          </p:cNvSpPr>
          <p:nvPr>
            <p:ph idx="1"/>
          </p:nvPr>
        </p:nvSpPr>
        <p:spPr>
          <a:xfrm>
            <a:off x="838200" y="1632089"/>
            <a:ext cx="10515600" cy="4351338"/>
          </a:xfrm>
        </p:spPr>
        <p:txBody>
          <a:bodyPr>
            <a:normAutofit/>
          </a:bodyPr>
          <a:lstStyle/>
          <a:p>
            <a:pPr algn="just"/>
            <a:r>
              <a:rPr lang="en-US" dirty="0">
                <a:latin typeface="Times New Roman" panose="02020603050405020304" pitchFamily="18" charset="0"/>
                <a:cs typeface="Times New Roman" panose="02020603050405020304" pitchFamily="18" charset="0"/>
              </a:rPr>
              <a:t>Once the DHT11 sensor has transmitted the data (temperature and humidity values), it enters a low-power consumption mode. During this time, the sensor is idle and does not transmit any further data until the next start pulse is sent by the microcontroller</a:t>
            </a:r>
            <a:r>
              <a:rPr lang="en-IN" dirty="0">
                <a:latin typeface="Times New Roman" panose="02020603050405020304" pitchFamily="18" charset="0"/>
                <a:cs typeface="Times New Roman" panose="02020603050405020304" pitchFamily="18" charset="0"/>
              </a:rPr>
              <a:t>.[3]</a:t>
            </a:r>
          </a:p>
        </p:txBody>
      </p:sp>
      <p:pic>
        <p:nvPicPr>
          <p:cNvPr id="5" name="Picture 4">
            <a:extLst>
              <a:ext uri="{FF2B5EF4-FFF2-40B4-BE49-F238E27FC236}">
                <a16:creationId xmlns:a16="http://schemas.microsoft.com/office/drawing/2014/main" id="{D96090BF-FFC8-1F98-E55F-974330E8C13D}"/>
              </a:ext>
            </a:extLst>
          </p:cNvPr>
          <p:cNvPicPr>
            <a:picLocks noChangeAspect="1"/>
          </p:cNvPicPr>
          <p:nvPr/>
        </p:nvPicPr>
        <p:blipFill>
          <a:blip r:embed="rId2"/>
          <a:srcRect l="-833" t="2350" r="833" b="4175"/>
          <a:stretch>
            <a:fillRect/>
          </a:stretch>
        </p:blipFill>
        <p:spPr>
          <a:xfrm>
            <a:off x="2258008" y="3429000"/>
            <a:ext cx="8145624" cy="2737914"/>
          </a:xfrm>
          <a:prstGeom prst="rect">
            <a:avLst/>
          </a:prstGeom>
        </p:spPr>
      </p:pic>
      <p:sp>
        <p:nvSpPr>
          <p:cNvPr id="10" name="Rectangle 9">
            <a:extLst>
              <a:ext uri="{FF2B5EF4-FFF2-40B4-BE49-F238E27FC236}">
                <a16:creationId xmlns:a16="http://schemas.microsoft.com/office/drawing/2014/main" id="{46F9B6CE-E673-E50A-2F5A-3F6ECF407BA8}"/>
              </a:ext>
            </a:extLst>
          </p:cNvPr>
          <p:cNvSpPr/>
          <p:nvPr/>
        </p:nvSpPr>
        <p:spPr>
          <a:xfrm>
            <a:off x="4446538" y="5225911"/>
            <a:ext cx="610654" cy="481876"/>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sz="1600" b="1" dirty="0">
                <a:latin typeface="Times New Roman" panose="02020603050405020304" pitchFamily="18" charset="0"/>
                <a:cs typeface="Times New Roman" panose="02020603050405020304" pitchFamily="18" charset="0"/>
              </a:rPr>
              <a:t>50us</a:t>
            </a:r>
          </a:p>
        </p:txBody>
      </p:sp>
    </p:spTree>
    <p:extLst>
      <p:ext uri="{BB962C8B-B14F-4D97-AF65-F5344CB8AC3E}">
        <p14:creationId xmlns:p14="http://schemas.microsoft.com/office/powerpoint/2010/main" val="9663316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E40A38-3863-713C-4301-98B9FC372D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E684D8-03A3-C788-0F50-41DE25DF7BC6}"/>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Overall Communication Process:</a:t>
            </a:r>
          </a:p>
        </p:txBody>
      </p:sp>
      <p:pic>
        <p:nvPicPr>
          <p:cNvPr id="4" name="Content Placeholder 3">
            <a:extLst>
              <a:ext uri="{FF2B5EF4-FFF2-40B4-BE49-F238E27FC236}">
                <a16:creationId xmlns:a16="http://schemas.microsoft.com/office/drawing/2014/main" id="{BBE0AF8E-36CB-ACCE-42A8-D29DBE95AF99}"/>
              </a:ext>
            </a:extLst>
          </p:cNvPr>
          <p:cNvPicPr>
            <a:picLocks noGrp="1" noChangeAspect="1"/>
          </p:cNvPicPr>
          <p:nvPr>
            <p:ph idx="1"/>
          </p:nvPr>
        </p:nvPicPr>
        <p:blipFill>
          <a:blip r:embed="rId2">
            <a:extLst>
              <a:ext uri="{BEBA8EAE-BF5A-486C-A8C5-ECC9F3942E4B}">
                <a14:imgProps xmlns:a14="http://schemas.microsoft.com/office/drawing/2010/main">
                  <a14:imgLayer r:embed="rId3">
                    <a14:imgEffect>
                      <a14:colorTemperature colorTemp="11200"/>
                    </a14:imgEffect>
                    <a14:imgEffect>
                      <a14:saturation sat="200000"/>
                    </a14:imgEffect>
                  </a14:imgLayer>
                </a14:imgProps>
              </a:ext>
            </a:extLst>
          </a:blip>
          <a:stretch>
            <a:fillRect/>
          </a:stretch>
        </p:blipFill>
        <p:spPr>
          <a:xfrm>
            <a:off x="838200" y="1690687"/>
            <a:ext cx="10515600" cy="4802187"/>
          </a:xfrm>
          <a:prstGeom prst="rect">
            <a:avLst/>
          </a:prstGeom>
        </p:spPr>
      </p:pic>
    </p:spTree>
    <p:extLst>
      <p:ext uri="{BB962C8B-B14F-4D97-AF65-F5344CB8AC3E}">
        <p14:creationId xmlns:p14="http://schemas.microsoft.com/office/powerpoint/2010/main" val="5562684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EA8163-FA35-3F44-4B4B-82137A23BC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382DE1-9EEA-04E2-1A94-9E4122776887}"/>
              </a:ext>
            </a:extLst>
          </p:cNvPr>
          <p:cNvSpPr>
            <a:spLocks noGrp="1"/>
          </p:cNvSpPr>
          <p:nvPr>
            <p:ph type="title"/>
          </p:nvPr>
        </p:nvSpPr>
        <p:spPr>
          <a:xfrm>
            <a:off x="0" y="121299"/>
            <a:ext cx="11353800" cy="671803"/>
          </a:xfrm>
        </p:spPr>
        <p:txBody>
          <a:bodyPr>
            <a:normAutofit fontScale="90000"/>
          </a:bodyPr>
          <a:lstStyle/>
          <a:p>
            <a:r>
              <a:rPr lang="en-IN" b="1" u="sng" dirty="0">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Interfacing DHT11 with STM32:</a:t>
            </a:r>
            <a:endParaRPr lang="en-IN" b="1" u="sng"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21F51D96-E017-C830-BC88-19444D87EB88}"/>
              </a:ext>
            </a:extLst>
          </p:cNvPr>
          <p:cNvSpPr>
            <a:spLocks noGrp="1"/>
          </p:cNvSpPr>
          <p:nvPr>
            <p:ph sz="half" idx="1"/>
          </p:nvPr>
        </p:nvSpPr>
        <p:spPr/>
        <p:txBody>
          <a:bodyPr>
            <a:normAutofit/>
          </a:bodyPr>
          <a:lstStyle/>
          <a:p>
            <a:endParaRPr lang="en-IN" dirty="0"/>
          </a:p>
        </p:txBody>
      </p:sp>
      <p:pic>
        <p:nvPicPr>
          <p:cNvPr id="13" name="Content Placeholder 12">
            <a:extLst>
              <a:ext uri="{FF2B5EF4-FFF2-40B4-BE49-F238E27FC236}">
                <a16:creationId xmlns:a16="http://schemas.microsoft.com/office/drawing/2014/main" id="{AF0BEDDF-BDCF-873F-5C58-29351D9807A7}"/>
              </a:ext>
            </a:extLst>
          </p:cNvPr>
          <p:cNvPicPr>
            <a:picLocks noGrp="1" noChangeAspect="1"/>
          </p:cNvPicPr>
          <p:nvPr>
            <p:ph sz="half" idx="2"/>
          </p:nvPr>
        </p:nvPicPr>
        <p:blipFill>
          <a:blip r:embed="rId3"/>
          <a:stretch>
            <a:fillRect/>
          </a:stretch>
        </p:blipFill>
        <p:spPr>
          <a:xfrm>
            <a:off x="6019800" y="793102"/>
            <a:ext cx="6172200" cy="4823927"/>
          </a:xfrm>
          <a:prstGeom prst="rect">
            <a:avLst/>
          </a:prstGeom>
        </p:spPr>
      </p:pic>
      <p:pic>
        <p:nvPicPr>
          <p:cNvPr id="11" name="Picture 10">
            <a:extLst>
              <a:ext uri="{FF2B5EF4-FFF2-40B4-BE49-F238E27FC236}">
                <a16:creationId xmlns:a16="http://schemas.microsoft.com/office/drawing/2014/main" id="{4A886341-163B-C535-5507-CDD91217EFA9}"/>
              </a:ext>
            </a:extLst>
          </p:cNvPr>
          <p:cNvPicPr>
            <a:picLocks noChangeAspect="1"/>
          </p:cNvPicPr>
          <p:nvPr/>
        </p:nvPicPr>
        <p:blipFill>
          <a:blip r:embed="rId4"/>
          <a:stretch>
            <a:fillRect/>
          </a:stretch>
        </p:blipFill>
        <p:spPr>
          <a:xfrm>
            <a:off x="0" y="793102"/>
            <a:ext cx="6019801" cy="6064898"/>
          </a:xfrm>
          <a:prstGeom prst="rect">
            <a:avLst/>
          </a:prstGeom>
        </p:spPr>
      </p:pic>
      <p:pic>
        <p:nvPicPr>
          <p:cNvPr id="15" name="Picture 14">
            <a:extLst>
              <a:ext uri="{FF2B5EF4-FFF2-40B4-BE49-F238E27FC236}">
                <a16:creationId xmlns:a16="http://schemas.microsoft.com/office/drawing/2014/main" id="{8557C820-B19A-7ECB-700B-8CB3A68F1259}"/>
              </a:ext>
            </a:extLst>
          </p:cNvPr>
          <p:cNvPicPr>
            <a:picLocks noChangeAspect="1"/>
          </p:cNvPicPr>
          <p:nvPr/>
        </p:nvPicPr>
        <p:blipFill>
          <a:blip r:embed="rId5"/>
          <a:srcRect l="1250"/>
          <a:stretch>
            <a:fillRect/>
          </a:stretch>
        </p:blipFill>
        <p:spPr>
          <a:xfrm>
            <a:off x="6019799" y="5617029"/>
            <a:ext cx="6172202" cy="1254998"/>
          </a:xfrm>
          <a:prstGeom prst="rect">
            <a:avLst/>
          </a:prstGeom>
        </p:spPr>
      </p:pic>
    </p:spTree>
    <p:extLst>
      <p:ext uri="{BB962C8B-B14F-4D97-AF65-F5344CB8AC3E}">
        <p14:creationId xmlns:p14="http://schemas.microsoft.com/office/powerpoint/2010/main" val="29688665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829D7C-09F3-2923-9CCD-D14E2CD589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8DFBF1-15FD-4B7C-14CC-921D54933E1D}"/>
              </a:ext>
            </a:extLst>
          </p:cNvPr>
          <p:cNvSpPr>
            <a:spLocks noGrp="1"/>
          </p:cNvSpPr>
          <p:nvPr>
            <p:ph type="title"/>
          </p:nvPr>
        </p:nvSpPr>
        <p:spPr>
          <a:xfrm>
            <a:off x="0" y="121299"/>
            <a:ext cx="11353800" cy="671803"/>
          </a:xfrm>
        </p:spPr>
        <p:txBody>
          <a:bodyPr>
            <a:normAutofit fontScale="90000"/>
          </a:bodyPr>
          <a:lstStyle/>
          <a:p>
            <a:r>
              <a:rPr lang="en-IN" b="1" u="sng" dirty="0">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Interfacing DHT11 with LPC1768:</a:t>
            </a:r>
            <a:endParaRPr lang="en-IN" b="1" u="sng" dirty="0">
              <a:latin typeface="Times New Roman" panose="02020603050405020304" pitchFamily="18" charset="0"/>
              <a:cs typeface="Times New Roman" panose="02020603050405020304" pitchFamily="18" charset="0"/>
            </a:endParaRPr>
          </a:p>
        </p:txBody>
      </p:sp>
      <p:pic>
        <p:nvPicPr>
          <p:cNvPr id="7" name="Content Placeholder 6">
            <a:extLst>
              <a:ext uri="{FF2B5EF4-FFF2-40B4-BE49-F238E27FC236}">
                <a16:creationId xmlns:a16="http://schemas.microsoft.com/office/drawing/2014/main" id="{EF6A195E-E645-1CC6-6716-E9C718AE91DD}"/>
              </a:ext>
            </a:extLst>
          </p:cNvPr>
          <p:cNvPicPr>
            <a:picLocks noGrp="1" noChangeAspect="1"/>
          </p:cNvPicPr>
          <p:nvPr>
            <p:ph sz="half" idx="1"/>
          </p:nvPr>
        </p:nvPicPr>
        <p:blipFill>
          <a:blip r:embed="rId3"/>
          <a:stretch>
            <a:fillRect/>
          </a:stretch>
        </p:blipFill>
        <p:spPr>
          <a:xfrm>
            <a:off x="0" y="793102"/>
            <a:ext cx="6096000" cy="6135830"/>
          </a:xfrm>
          <a:prstGeom prst="rect">
            <a:avLst/>
          </a:prstGeom>
        </p:spPr>
      </p:pic>
      <p:pic>
        <p:nvPicPr>
          <p:cNvPr id="9" name="Content Placeholder 8">
            <a:extLst>
              <a:ext uri="{FF2B5EF4-FFF2-40B4-BE49-F238E27FC236}">
                <a16:creationId xmlns:a16="http://schemas.microsoft.com/office/drawing/2014/main" id="{0E478678-ABC2-836F-99A1-40A67497E82F}"/>
              </a:ext>
            </a:extLst>
          </p:cNvPr>
          <p:cNvPicPr>
            <a:picLocks noGrp="1" noChangeAspect="1"/>
          </p:cNvPicPr>
          <p:nvPr>
            <p:ph sz="half" idx="2"/>
          </p:nvPr>
        </p:nvPicPr>
        <p:blipFill>
          <a:blip r:embed="rId4"/>
          <a:stretch>
            <a:fillRect/>
          </a:stretch>
        </p:blipFill>
        <p:spPr>
          <a:xfrm>
            <a:off x="6096001" y="793102"/>
            <a:ext cx="6095999" cy="6064898"/>
          </a:xfrm>
          <a:prstGeom prst="rect">
            <a:avLst/>
          </a:prstGeom>
        </p:spPr>
      </p:pic>
    </p:spTree>
    <p:extLst>
      <p:ext uri="{BB962C8B-B14F-4D97-AF65-F5344CB8AC3E}">
        <p14:creationId xmlns:p14="http://schemas.microsoft.com/office/powerpoint/2010/main" val="5019556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12F92-12FF-1189-BD65-347AAF52C8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8CEF86-B81C-12DD-A283-5CE88614ECD6}"/>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C4442FFA-2C36-0A0A-FEBD-39D501484882}"/>
              </a:ext>
            </a:extLst>
          </p:cNvPr>
          <p:cNvSpPr>
            <a:spLocks noGrp="1"/>
          </p:cNvSpPr>
          <p:nvPr>
            <p:ph idx="1"/>
          </p:nvPr>
        </p:nvSpPr>
        <p:spPr/>
        <p:txBody>
          <a:bodyPr/>
          <a:lstStyle/>
          <a:p>
            <a:pPr marL="0" indent="0">
              <a:buNone/>
            </a:pPr>
            <a:r>
              <a:rPr lang="en-IN" dirty="0"/>
              <a:t>[1] </a:t>
            </a:r>
            <a:r>
              <a:rPr lang="en-IN" dirty="0" err="1"/>
              <a:t>Aosong</a:t>
            </a:r>
            <a:r>
              <a:rPr lang="en-IN" dirty="0"/>
              <a:t> (Guangzhou) Electronics Co., Ltd., “DHT11 Product Manual: Temperature and Humidity Module.”</a:t>
            </a:r>
          </a:p>
          <a:p>
            <a:pPr marL="0" indent="0">
              <a:buNone/>
            </a:pPr>
            <a:r>
              <a:rPr lang="en-IN" dirty="0"/>
              <a:t>[2] </a:t>
            </a:r>
            <a:r>
              <a:rPr lang="en-IN" dirty="0" err="1"/>
              <a:t>zahidali</a:t>
            </a:r>
            <a:r>
              <a:rPr lang="en-IN" dirty="0"/>
              <a:t>, “Introduction to DHT11,” The Engineering Projects. </a:t>
            </a:r>
          </a:p>
          <a:p>
            <a:pPr marL="0" indent="0">
              <a:buNone/>
            </a:pPr>
            <a:r>
              <a:rPr lang="en-IN" dirty="0"/>
              <a:t>[3] “DHT11 Humidity &amp; Temperature Sensor”.</a:t>
            </a:r>
          </a:p>
          <a:p>
            <a:pPr marL="0" indent="0">
              <a:buNone/>
            </a:pPr>
            <a:r>
              <a:rPr lang="en-IN" dirty="0"/>
              <a:t>[4] “DHT11 vs DHT22 | Difference between DHT11 and DHT22.” Available: </a:t>
            </a:r>
            <a:r>
              <a:rPr lang="en-IN" dirty="0">
                <a:hlinkClick r:id="rId2"/>
              </a:rPr>
              <a:t>https://iotbyhvm.ooo/dht11-vs-dht22-overview/</a:t>
            </a:r>
            <a:endParaRPr lang="en-IN" dirty="0"/>
          </a:p>
          <a:p>
            <a:pPr marL="0" indent="0">
              <a:buNone/>
            </a:pPr>
            <a:r>
              <a:rPr lang="en-IN" dirty="0"/>
              <a:t>[5] </a:t>
            </a:r>
            <a:r>
              <a:rPr lang="en-IN" dirty="0">
                <a:hlinkClick r:id="rId3"/>
              </a:rPr>
              <a:t>https://github.com/AbdulRehaman7/dht11-interfacing</a:t>
            </a:r>
            <a:endParaRPr lang="en-IN" dirty="0"/>
          </a:p>
          <a:p>
            <a:pPr marL="0" indent="0">
              <a:buNone/>
            </a:pPr>
            <a:endParaRPr lang="en-IN" dirty="0"/>
          </a:p>
        </p:txBody>
      </p:sp>
    </p:spTree>
    <p:extLst>
      <p:ext uri="{BB962C8B-B14F-4D97-AF65-F5344CB8AC3E}">
        <p14:creationId xmlns:p14="http://schemas.microsoft.com/office/powerpoint/2010/main" val="25073462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D8558-2D4C-5613-C75F-60CF4BEA4B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08E2EE-ADFD-F917-B3FB-236E84D8C705}"/>
              </a:ext>
            </a:extLst>
          </p:cNvPr>
          <p:cNvSpPr>
            <a:spLocks noGrp="1"/>
          </p:cNvSpPr>
          <p:nvPr>
            <p:ph type="title"/>
          </p:nvPr>
        </p:nvSpPr>
        <p:spPr>
          <a:xfrm>
            <a:off x="838200" y="2766218"/>
            <a:ext cx="10515600" cy="1325563"/>
          </a:xfrm>
        </p:spPr>
        <p:txBody>
          <a:bodyPr>
            <a:normAutofit/>
          </a:bodyPr>
          <a:lstStyle/>
          <a:p>
            <a:pPr algn="ctr"/>
            <a:r>
              <a:rPr lang="en-IN" sz="8000" b="1"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35250669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1969</TotalTime>
  <Words>1738</Words>
  <Application>Microsoft Office PowerPoint</Application>
  <PresentationFormat>Widescreen</PresentationFormat>
  <Paragraphs>161</Paragraphs>
  <Slides>28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Calibri</vt:lpstr>
      <vt:lpstr>Calibri Light</vt:lpstr>
      <vt:lpstr>Times New Roman</vt:lpstr>
      <vt:lpstr>Office Theme</vt:lpstr>
      <vt:lpstr>PowerPoint Presentation</vt:lpstr>
      <vt:lpstr>Contents:</vt:lpstr>
      <vt:lpstr>INTRODUCTION:</vt:lpstr>
      <vt:lpstr>DHT11 FEATURES:</vt:lpstr>
      <vt:lpstr>DHT11 PIN OUT:</vt:lpstr>
      <vt:lpstr>DHT11 TYPES:</vt:lpstr>
      <vt:lpstr>TECHNICAL SPECIFICATIONS: overview:</vt:lpstr>
      <vt:lpstr>TECHNICAL SPECIFICATIONS(detailed):</vt:lpstr>
      <vt:lpstr>ELECTRICAL CHARACTERISTICS:</vt:lpstr>
      <vt:lpstr>DHT11 WORKING:</vt:lpstr>
      <vt:lpstr>DHT11 Temperature Measurement:</vt:lpstr>
      <vt:lpstr>PowerPoint Presentation</vt:lpstr>
      <vt:lpstr>DHT11 Humidity Measurement:</vt:lpstr>
      <vt:lpstr>PowerPoint Presentation</vt:lpstr>
      <vt:lpstr>DHT11 Data Format:</vt:lpstr>
      <vt:lpstr>DHT11 Data Format:</vt:lpstr>
      <vt:lpstr>How does the checksum work?</vt:lpstr>
      <vt:lpstr>Communication Process: Serial Interface (Single-Wire Two-Way)</vt:lpstr>
      <vt:lpstr> MCU Start Signal to DHT11:</vt:lpstr>
      <vt:lpstr>DHT Responses to MCU:</vt:lpstr>
      <vt:lpstr>DATA ‘0’ INDICATION:</vt:lpstr>
      <vt:lpstr>DATA ‘1’ INDICATION:</vt:lpstr>
      <vt:lpstr>End of the frame:</vt:lpstr>
      <vt:lpstr>Overall Communication Process:</vt:lpstr>
      <vt:lpstr>Interfacing DHT11 with STM32:</vt:lpstr>
      <vt:lpstr>Interfacing DHT11 with LPC1768:</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Abdul Rehman</dc:creator>
  <cp:lastModifiedBy>ABDUL REHMAN - 261090230009 - MITMPL</cp:lastModifiedBy>
  <cp:revision>6</cp:revision>
  <dcterms:created xsi:type="dcterms:W3CDTF">2026-10-19T07:16:21Z</dcterms:created>
  <dcterms:modified xsi:type="dcterms:W3CDTF">2026-10-21T03:21:03Z</dcterms:modified>
</cp:coreProperties>
</file>